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2" r:id="rId7"/>
    <p:sldId id="273" r:id="rId8"/>
    <p:sldId id="274" r:id="rId9"/>
    <p:sldId id="275" r:id="rId10"/>
    <p:sldId id="262" r:id="rId11"/>
    <p:sldId id="263" r:id="rId12"/>
    <p:sldId id="264" r:id="rId13"/>
    <p:sldId id="265" r:id="rId14"/>
    <p:sldId id="267" r:id="rId15"/>
    <p:sldId id="268" r:id="rId16"/>
    <p:sldId id="269" r:id="rId17"/>
    <p:sldId id="270" r:id="rId18"/>
    <p:sldId id="271" r:id="rId19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7" d="100"/>
          <a:sy n="67" d="100"/>
        </p:scale>
        <p:origin x="620" y="-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FD7D188-95F4-4FDD-B9AE-D630216479A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4719444-9791-426D-9343-24FED97ABDF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C00A921-043F-4B4F-8298-E8E8165CFFF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510912B-4D3B-498F-9618-26EDC17E1E4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D20A2AB-4CD5-4062-822E-798DB4F1606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F9859B3-7950-47A1-9234-CCE5425DE30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AA6E5B6-5D62-4771-8B94-3FFFB4B56F1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07C3A30-19EA-4279-B5C3-724DAD188A7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26EACC5-DD5B-4004-A038-DD883FCC4E8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856155C-A190-4D2E-8D4C-C928A765BEA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89FDD09-FDFE-44C2-B903-A9DC317F84D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147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1"/>
          <p:cNvSpPr/>
          <p:nvPr/>
        </p:nvSpPr>
        <p:spPr>
          <a:xfrm>
            <a:off x="0" y="0"/>
            <a:ext cx="3885840" cy="6857640"/>
          </a:xfrm>
          <a:prstGeom prst="rect">
            <a:avLst/>
          </a:prstGeom>
          <a:solidFill>
            <a:srgbClr val="F1D55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" name="TextBox 2"/>
          <p:cNvSpPr/>
          <p:nvPr/>
        </p:nvSpPr>
        <p:spPr>
          <a:xfrm>
            <a:off x="594359" y="658440"/>
            <a:ext cx="3094771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u="none" strike="noStrike" dirty="0">
                <a:solidFill>
                  <a:srgbClr val="23231E"/>
                </a:solidFill>
                <a:effectLst/>
                <a:uFillTx/>
                <a:latin typeface="Georgia"/>
              </a:rPr>
              <a:t>PEMROGRAMAN</a:t>
            </a:r>
            <a:br>
              <a:rPr sz="2400" dirty="0"/>
            </a:br>
            <a:r>
              <a:rPr lang="en-US" sz="2400" b="1" u="none" strike="noStrike" dirty="0">
                <a:solidFill>
                  <a:srgbClr val="23231E"/>
                </a:solidFill>
                <a:effectLst/>
                <a:uFillTx/>
                <a:latin typeface="Georgia"/>
              </a:rPr>
              <a:t>INTERFACE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Box 3"/>
          <p:cNvSpPr/>
          <p:nvPr/>
        </p:nvSpPr>
        <p:spPr>
          <a:xfrm>
            <a:off x="594360" y="2057400"/>
            <a:ext cx="28342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5C4830"/>
                </a:solidFill>
                <a:effectLst/>
                <a:uFillTx/>
                <a:latin typeface="Arial"/>
              </a:rPr>
              <a:t>PERANCANGAN &amp; IMPLEMENTASI</a:t>
            </a:r>
            <a:br>
              <a:rPr sz="1900"/>
            </a:br>
            <a:r>
              <a:rPr lang="en-US" sz="1900" b="1" u="none" strike="noStrike">
                <a:solidFill>
                  <a:srgbClr val="5C4830"/>
                </a:solidFill>
                <a:effectLst/>
                <a:uFillTx/>
                <a:latin typeface="Arial"/>
              </a:rPr>
              <a:t>WEBSITE UMKM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4"/>
          <p:cNvSpPr/>
          <p:nvPr/>
        </p:nvSpPr>
        <p:spPr>
          <a:xfrm>
            <a:off x="4434840" y="1325880"/>
            <a:ext cx="68576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23231E"/>
                </a:solidFill>
                <a:effectLst/>
                <a:uFillTx/>
                <a:latin typeface="Georgia"/>
              </a:rPr>
              <a:t>Ayam Grobok Bang Jarwo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5"/>
          <p:cNvSpPr/>
          <p:nvPr/>
        </p:nvSpPr>
        <p:spPr>
          <a:xfrm>
            <a:off x="4480560" y="2148840"/>
            <a:ext cx="6217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5C4830"/>
                </a:solidFill>
                <a:effectLst/>
                <a:uFillTx/>
                <a:latin typeface="Arial"/>
              </a:rPr>
              <a:t>Website informasi produk dan pemesanan UMKM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Rounded Rectangle 6"/>
          <p:cNvSpPr/>
          <p:nvPr/>
        </p:nvSpPr>
        <p:spPr>
          <a:xfrm>
            <a:off x="4480560" y="2926080"/>
            <a:ext cx="2057040" cy="502560"/>
          </a:xfrm>
          <a:prstGeom prst="roundRect">
            <a:avLst>
              <a:gd name="adj" fmla="val 16667"/>
            </a:avLst>
          </a:prstGeom>
          <a:solidFill>
            <a:srgbClr val="F1D55B"/>
          </a:solidFill>
          <a:ln>
            <a:solidFill>
              <a:srgbClr val="5C483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" name="TextBox 7"/>
          <p:cNvSpPr/>
          <p:nvPr/>
        </p:nvSpPr>
        <p:spPr>
          <a:xfrm>
            <a:off x="4480560" y="3072240"/>
            <a:ext cx="2057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5C4830"/>
                </a:solidFill>
                <a:effectLst/>
                <a:uFillTx/>
                <a:latin typeface="Arial"/>
              </a:rPr>
              <a:t>COLOR PALETTE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Rounded Rectangle 8"/>
          <p:cNvSpPr/>
          <p:nvPr/>
        </p:nvSpPr>
        <p:spPr>
          <a:xfrm>
            <a:off x="6812280" y="2926080"/>
            <a:ext cx="2057040" cy="502560"/>
          </a:xfrm>
          <a:prstGeom prst="roundRect">
            <a:avLst>
              <a:gd name="adj" fmla="val 16667"/>
            </a:avLst>
          </a:prstGeom>
          <a:solidFill>
            <a:srgbClr val="FAE591"/>
          </a:solidFill>
          <a:ln>
            <a:solidFill>
              <a:srgbClr val="5C483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9"/>
          <p:cNvSpPr/>
          <p:nvPr/>
        </p:nvSpPr>
        <p:spPr>
          <a:xfrm>
            <a:off x="6812280" y="3072240"/>
            <a:ext cx="2057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5C4830"/>
                </a:solidFill>
                <a:effectLst/>
                <a:uFillTx/>
                <a:latin typeface="Arial"/>
              </a:rPr>
              <a:t>TYPOGRAPHY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Rounded Rectangle 10"/>
          <p:cNvSpPr/>
          <p:nvPr/>
        </p:nvSpPr>
        <p:spPr>
          <a:xfrm>
            <a:off x="9144000" y="2926080"/>
            <a:ext cx="2057040" cy="50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5C483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11"/>
          <p:cNvSpPr/>
          <p:nvPr/>
        </p:nvSpPr>
        <p:spPr>
          <a:xfrm>
            <a:off x="9144000" y="3072240"/>
            <a:ext cx="2057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5C4830"/>
                </a:solidFill>
                <a:effectLst/>
                <a:uFillTx/>
                <a:latin typeface="Arial"/>
              </a:rPr>
              <a:t>UI &amp; WIREFRAME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2"/>
          <p:cNvSpPr/>
          <p:nvPr/>
        </p:nvSpPr>
        <p:spPr>
          <a:xfrm>
            <a:off x="4416809" y="4456483"/>
            <a:ext cx="5028840" cy="124504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dirty="0">
                <a:solidFill>
                  <a:srgbClr val="69695F"/>
                </a:solidFill>
                <a:latin typeface="Arial"/>
              </a:rPr>
              <a:t>DARREN</a:t>
            </a:r>
          </a:p>
          <a:p>
            <a:pPr defTabSz="457200">
              <a:lnSpc>
                <a:spcPct val="100000"/>
              </a:lnSpc>
            </a:pPr>
            <a:r>
              <a:rPr lang="en-US" sz="1500" b="0" u="none" strike="noStrike" dirty="0">
                <a:solidFill>
                  <a:srgbClr val="69695F"/>
                </a:solidFill>
                <a:effectLst/>
                <a:uFillTx/>
                <a:latin typeface="Arial"/>
              </a:rPr>
              <a:t>MARVINE</a:t>
            </a:r>
          </a:p>
          <a:p>
            <a:pPr defTabSz="457200">
              <a:lnSpc>
                <a:spcPct val="100000"/>
              </a:lnSpc>
            </a:pPr>
            <a:r>
              <a:rPr lang="en-US" sz="1500" dirty="0">
                <a:solidFill>
                  <a:srgbClr val="69695F"/>
                </a:solidFill>
                <a:latin typeface="Arial"/>
              </a:rPr>
              <a:t>RIZA ROSMERI</a:t>
            </a:r>
          </a:p>
          <a:p>
            <a:pPr defTabSz="457200">
              <a:lnSpc>
                <a:spcPct val="100000"/>
              </a:lnSpc>
            </a:pPr>
            <a:r>
              <a:rPr lang="en-US" sz="1500" dirty="0">
                <a:solidFill>
                  <a:srgbClr val="69695F"/>
                </a:solidFill>
                <a:latin typeface="Arial"/>
              </a:rPr>
              <a:t>VIONANDA GINTING</a:t>
            </a:r>
          </a:p>
          <a:p>
            <a:pPr defTabSz="457200">
              <a:lnSpc>
                <a:spcPct val="100000"/>
              </a:lnSpc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3"/>
          <p:cNvSpPr/>
          <p:nvPr/>
        </p:nvSpPr>
        <p:spPr>
          <a:xfrm>
            <a:off x="10050157" y="6443367"/>
            <a:ext cx="2301766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Universitas Tarumanagara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1"/>
          <p:cNvSpPr/>
          <p:nvPr/>
        </p:nvSpPr>
        <p:spPr>
          <a:xfrm>
            <a:off x="0" y="0"/>
            <a:ext cx="12191400" cy="164160"/>
          </a:xfrm>
          <a:prstGeom prst="rect">
            <a:avLst/>
          </a:prstGeom>
          <a:solidFill>
            <a:srgbClr val="F1D55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2"/>
          <p:cNvSpPr/>
          <p:nvPr/>
        </p:nvSpPr>
        <p:spPr>
          <a:xfrm>
            <a:off x="594360" y="384120"/>
            <a:ext cx="98751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23231E"/>
                </a:solidFill>
                <a:effectLst/>
                <a:uFillTx/>
                <a:latin typeface="Georgia"/>
              </a:rPr>
              <a:t>Gambaran Proyek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3"/>
          <p:cNvSpPr/>
          <p:nvPr/>
        </p:nvSpPr>
        <p:spPr>
          <a:xfrm>
            <a:off x="11109960" y="411480"/>
            <a:ext cx="456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C4830"/>
                </a:solidFill>
                <a:effectLst/>
                <a:uFillTx/>
                <a:latin typeface="Arial"/>
              </a:rPr>
              <a:t>02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4"/>
          <p:cNvSpPr/>
          <p:nvPr/>
        </p:nvSpPr>
        <p:spPr>
          <a:xfrm>
            <a:off x="685800" y="1143000"/>
            <a:ext cx="107895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100" b="0" u="none" strike="noStrike">
                <a:solidFill>
                  <a:srgbClr val="5C4830"/>
                </a:solidFill>
                <a:effectLst/>
                <a:uFillTx/>
                <a:latin typeface="Georgia"/>
              </a:rPr>
              <a:t>Website UMKM Ayam Grobok Bang Jarwo dirancang sebagai media informasi sekaligus sarana pemesanan yang lebih terstruktur.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Rounded Rectangle 5"/>
          <p:cNvSpPr/>
          <p:nvPr/>
        </p:nvSpPr>
        <p:spPr>
          <a:xfrm>
            <a:off x="685800" y="2240280"/>
            <a:ext cx="3428640" cy="2011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FAE59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6"/>
          <p:cNvSpPr/>
          <p:nvPr/>
        </p:nvSpPr>
        <p:spPr>
          <a:xfrm>
            <a:off x="887040" y="2404800"/>
            <a:ext cx="30261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5C4830"/>
                </a:solidFill>
                <a:effectLst/>
                <a:uFillTx/>
                <a:latin typeface="Georgia"/>
              </a:rPr>
              <a:t>01 • Informasi UMKM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7"/>
          <p:cNvSpPr/>
          <p:nvPr/>
        </p:nvSpPr>
        <p:spPr>
          <a:xfrm>
            <a:off x="887040" y="2807280"/>
            <a:ext cx="3026160" cy="129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Deskripsi singkat UMKM, identitas usaha, serta lokasi untuk membantu pengguna mengenal usaha.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ounded Rectangle 8"/>
          <p:cNvSpPr/>
          <p:nvPr/>
        </p:nvSpPr>
        <p:spPr>
          <a:xfrm>
            <a:off x="4389120" y="2240280"/>
            <a:ext cx="3428640" cy="2011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FAE59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9"/>
          <p:cNvSpPr/>
          <p:nvPr/>
        </p:nvSpPr>
        <p:spPr>
          <a:xfrm>
            <a:off x="4590360" y="2404800"/>
            <a:ext cx="30261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5C4830"/>
                </a:solidFill>
                <a:effectLst/>
                <a:uFillTx/>
                <a:latin typeface="Georgia"/>
              </a:rPr>
              <a:t>02 • Produk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10"/>
          <p:cNvSpPr/>
          <p:nvPr/>
        </p:nvSpPr>
        <p:spPr>
          <a:xfrm>
            <a:off x="4590360" y="2807280"/>
            <a:ext cx="3026160" cy="129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Menampilkan produk unggulan dan daftar menu agar pengguna dapat melihat pilihan produk dan harga.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Rounded Rectangle 11"/>
          <p:cNvSpPr/>
          <p:nvPr/>
        </p:nvSpPr>
        <p:spPr>
          <a:xfrm>
            <a:off x="8092440" y="2240280"/>
            <a:ext cx="3428640" cy="2011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FAE59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12"/>
          <p:cNvSpPr/>
          <p:nvPr/>
        </p:nvSpPr>
        <p:spPr>
          <a:xfrm>
            <a:off x="8293680" y="2404800"/>
            <a:ext cx="30261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5C4830"/>
                </a:solidFill>
                <a:effectLst/>
                <a:uFillTx/>
                <a:latin typeface="Georgia"/>
              </a:rPr>
              <a:t>03 • Pemesanan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13"/>
          <p:cNvSpPr/>
          <p:nvPr/>
        </p:nvSpPr>
        <p:spPr>
          <a:xfrm>
            <a:off x="8293680" y="2807280"/>
            <a:ext cx="3026160" cy="129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Menyediakan form pemesanan dengan data pelanggan, produk, jumlah, catatan, dan metode pembayaran.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17"/>
          <p:cNvSpPr/>
          <p:nvPr/>
        </p:nvSpPr>
        <p:spPr>
          <a:xfrm>
            <a:off x="594360" y="6510600"/>
            <a:ext cx="86864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Pemrograman Interface • UMKM Ayam Grobok Bang Jarwo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1"/>
          <p:cNvSpPr/>
          <p:nvPr/>
        </p:nvSpPr>
        <p:spPr>
          <a:xfrm>
            <a:off x="0" y="0"/>
            <a:ext cx="12191400" cy="164160"/>
          </a:xfrm>
          <a:prstGeom prst="rect">
            <a:avLst/>
          </a:prstGeom>
          <a:solidFill>
            <a:srgbClr val="F1D55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2"/>
          <p:cNvSpPr/>
          <p:nvPr/>
        </p:nvSpPr>
        <p:spPr>
          <a:xfrm>
            <a:off x="594360" y="384120"/>
            <a:ext cx="98751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23231E"/>
                </a:solidFill>
                <a:effectLst/>
                <a:uFillTx/>
                <a:latin typeface="Georgia"/>
              </a:rPr>
              <a:t>Tujuan Perancangan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3"/>
          <p:cNvSpPr/>
          <p:nvPr/>
        </p:nvSpPr>
        <p:spPr>
          <a:xfrm>
            <a:off x="11109960" y="411480"/>
            <a:ext cx="456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C4830"/>
                </a:solidFill>
                <a:effectLst/>
                <a:uFillTx/>
                <a:latin typeface="Arial"/>
              </a:rPr>
              <a:t>03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4"/>
          <p:cNvSpPr/>
          <p:nvPr/>
        </p:nvSpPr>
        <p:spPr>
          <a:xfrm>
            <a:off x="822960" y="1325880"/>
            <a:ext cx="6400440" cy="343794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800" b="0" u="none" strike="noStrike" dirty="0">
                <a:solidFill>
                  <a:srgbClr val="23231E"/>
                </a:solidFill>
                <a:effectLst/>
                <a:uFillTx/>
                <a:latin typeface="Arial"/>
              </a:rPr>
              <a:t>• </a:t>
            </a:r>
            <a:r>
              <a:rPr lang="en-US" sz="1800" b="0" u="none" strike="noStrike" dirty="0" err="1">
                <a:solidFill>
                  <a:srgbClr val="23231E"/>
                </a:solidFill>
                <a:effectLst/>
                <a:uFillTx/>
                <a:latin typeface="Arial"/>
              </a:rPr>
              <a:t>Mempermudah</a:t>
            </a:r>
            <a:r>
              <a:rPr lang="en-US" sz="1800" b="0" u="none" strike="noStrike" dirty="0">
                <a:solidFill>
                  <a:srgbClr val="23231E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 dirty="0" err="1">
                <a:solidFill>
                  <a:srgbClr val="23231E"/>
                </a:solidFill>
                <a:effectLst/>
                <a:uFillTx/>
                <a:latin typeface="Arial"/>
              </a:rPr>
              <a:t>pelanggan</a:t>
            </a:r>
            <a:r>
              <a:rPr lang="en-US" sz="1800" b="0" u="none" strike="noStrike" dirty="0">
                <a:solidFill>
                  <a:srgbClr val="23231E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 dirty="0" err="1">
                <a:solidFill>
                  <a:srgbClr val="23231E"/>
                </a:solidFill>
                <a:effectLst/>
                <a:uFillTx/>
                <a:latin typeface="Arial"/>
              </a:rPr>
              <a:t>memperoleh</a:t>
            </a:r>
            <a:r>
              <a:rPr lang="en-US" sz="1800" b="0" u="none" strike="noStrike" dirty="0">
                <a:solidFill>
                  <a:srgbClr val="23231E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 dirty="0" err="1">
                <a:solidFill>
                  <a:srgbClr val="23231E"/>
                </a:solidFill>
                <a:effectLst/>
                <a:uFillTx/>
                <a:latin typeface="Arial"/>
              </a:rPr>
              <a:t>informasi</a:t>
            </a:r>
            <a:r>
              <a:rPr lang="en-US" sz="1800" b="0" u="none" strike="noStrike" dirty="0">
                <a:solidFill>
                  <a:srgbClr val="23231E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 dirty="0" err="1">
                <a:solidFill>
                  <a:srgbClr val="23231E"/>
                </a:solidFill>
                <a:effectLst/>
                <a:uFillTx/>
                <a:latin typeface="Arial"/>
              </a:rPr>
              <a:t>tentang</a:t>
            </a:r>
            <a:r>
              <a:rPr lang="en-US" sz="1800" b="0" u="none" strike="noStrike" dirty="0">
                <a:solidFill>
                  <a:srgbClr val="23231E"/>
                </a:solidFill>
                <a:effectLst/>
                <a:uFillTx/>
                <a:latin typeface="Arial"/>
              </a:rPr>
              <a:t> UMKM.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800" b="0" u="none" strike="noStrike" dirty="0">
                <a:solidFill>
                  <a:srgbClr val="23231E"/>
                </a:solidFill>
                <a:effectLst/>
                <a:uFillTx/>
                <a:latin typeface="Arial"/>
              </a:rPr>
              <a:t>• </a:t>
            </a:r>
            <a:r>
              <a:rPr lang="en-US" sz="1800" b="0" u="none" strike="noStrike" dirty="0" err="1">
                <a:solidFill>
                  <a:srgbClr val="23231E"/>
                </a:solidFill>
                <a:effectLst/>
                <a:uFillTx/>
                <a:latin typeface="Arial"/>
              </a:rPr>
              <a:t>Menampilkan</a:t>
            </a:r>
            <a:r>
              <a:rPr lang="en-US" sz="1800" b="0" u="none" strike="noStrike" dirty="0">
                <a:solidFill>
                  <a:srgbClr val="23231E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 dirty="0" err="1">
                <a:solidFill>
                  <a:srgbClr val="23231E"/>
                </a:solidFill>
                <a:effectLst/>
                <a:uFillTx/>
                <a:latin typeface="Arial"/>
              </a:rPr>
              <a:t>pilihan</a:t>
            </a:r>
            <a:r>
              <a:rPr lang="en-US" sz="1800" b="0" u="none" strike="noStrike" dirty="0">
                <a:solidFill>
                  <a:srgbClr val="23231E"/>
                </a:solidFill>
                <a:effectLst/>
                <a:uFillTx/>
                <a:latin typeface="Arial"/>
              </a:rPr>
              <a:t> menu/</a:t>
            </a:r>
            <a:r>
              <a:rPr lang="en-US" sz="1800" b="0" u="none" strike="noStrike" dirty="0" err="1">
                <a:solidFill>
                  <a:srgbClr val="23231E"/>
                </a:solidFill>
                <a:effectLst/>
                <a:uFillTx/>
                <a:latin typeface="Arial"/>
              </a:rPr>
              <a:t>produk</a:t>
            </a:r>
            <a:r>
              <a:rPr lang="en-US" sz="1800" b="0" u="none" strike="noStrike" dirty="0">
                <a:solidFill>
                  <a:srgbClr val="23231E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 dirty="0" err="1">
                <a:solidFill>
                  <a:srgbClr val="23231E"/>
                </a:solidFill>
                <a:effectLst/>
                <a:uFillTx/>
                <a:latin typeface="Arial"/>
              </a:rPr>
              <a:t>secara</a:t>
            </a:r>
            <a:r>
              <a:rPr lang="en-US" sz="1800" b="0" u="none" strike="noStrike" dirty="0">
                <a:solidFill>
                  <a:srgbClr val="23231E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 dirty="0" err="1">
                <a:solidFill>
                  <a:srgbClr val="23231E"/>
                </a:solidFill>
                <a:effectLst/>
                <a:uFillTx/>
                <a:latin typeface="Arial"/>
              </a:rPr>
              <a:t>lebih</a:t>
            </a:r>
            <a:r>
              <a:rPr lang="en-US" sz="1800" b="0" u="none" strike="noStrike" dirty="0">
                <a:solidFill>
                  <a:srgbClr val="23231E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 dirty="0" err="1">
                <a:solidFill>
                  <a:srgbClr val="23231E"/>
                </a:solidFill>
                <a:effectLst/>
                <a:uFillTx/>
                <a:latin typeface="Arial"/>
              </a:rPr>
              <a:t>terstruktur</a:t>
            </a:r>
            <a:r>
              <a:rPr lang="en-US" sz="1800" b="0" u="none" strike="noStrike" dirty="0">
                <a:solidFill>
                  <a:srgbClr val="23231E"/>
                </a:solidFill>
                <a:effectLst/>
                <a:uFillTx/>
                <a:latin typeface="Arial"/>
              </a:rPr>
              <a:t>.</a:t>
            </a:r>
          </a:p>
          <a:p>
            <a:pPr marL="285750" indent="-285750" defTabSz="457200">
              <a:lnSpc>
                <a:spcPct val="100000"/>
              </a:lnSpc>
              <a:spcAft>
                <a:spcPts val="901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23231E"/>
                </a:solidFill>
                <a:latin typeface="Arial"/>
              </a:rPr>
              <a:t>Menampilkan</a:t>
            </a:r>
            <a:r>
              <a:rPr lang="en-US" dirty="0">
                <a:solidFill>
                  <a:srgbClr val="23231E"/>
                </a:solidFill>
                <a:latin typeface="Arial"/>
              </a:rPr>
              <a:t> menu </a:t>
            </a:r>
            <a:r>
              <a:rPr lang="en-US" dirty="0" err="1">
                <a:solidFill>
                  <a:srgbClr val="23231E"/>
                </a:solidFill>
                <a:latin typeface="Arial"/>
              </a:rPr>
              <a:t>unggul</a:t>
            </a:r>
            <a:r>
              <a:rPr lang="en-US" dirty="0">
                <a:solidFill>
                  <a:srgbClr val="23231E"/>
                </a:solidFill>
                <a:latin typeface="Arial"/>
              </a:rPr>
              <a:t> </a:t>
            </a:r>
            <a:r>
              <a:rPr lang="en-US" dirty="0" err="1">
                <a:solidFill>
                  <a:srgbClr val="23231E"/>
                </a:solidFill>
                <a:latin typeface="Arial"/>
              </a:rPr>
              <a:t>dengan</a:t>
            </a:r>
            <a:r>
              <a:rPr lang="en-US" dirty="0">
                <a:solidFill>
                  <a:srgbClr val="23231E"/>
                </a:solidFill>
                <a:latin typeface="Arial"/>
              </a:rPr>
              <a:t> </a:t>
            </a:r>
            <a:r>
              <a:rPr lang="en-US" dirty="0" err="1">
                <a:solidFill>
                  <a:srgbClr val="23231E"/>
                </a:solidFill>
                <a:latin typeface="Arial"/>
              </a:rPr>
              <a:t>minat</a:t>
            </a:r>
            <a:r>
              <a:rPr lang="en-US" dirty="0">
                <a:solidFill>
                  <a:srgbClr val="23231E"/>
                </a:solidFill>
                <a:latin typeface="Arial"/>
              </a:rPr>
              <a:t> </a:t>
            </a:r>
            <a:r>
              <a:rPr lang="en-US" dirty="0" err="1">
                <a:solidFill>
                  <a:srgbClr val="23231E"/>
                </a:solidFill>
                <a:latin typeface="Arial"/>
              </a:rPr>
              <a:t>pembeli</a:t>
            </a:r>
            <a:r>
              <a:rPr lang="en-US" dirty="0">
                <a:solidFill>
                  <a:srgbClr val="23231E"/>
                </a:solidFill>
                <a:latin typeface="Arial"/>
              </a:rPr>
              <a:t> yang </a:t>
            </a:r>
            <a:r>
              <a:rPr lang="en-US" dirty="0" err="1">
                <a:solidFill>
                  <a:srgbClr val="23231E"/>
                </a:solidFill>
                <a:latin typeface="Arial"/>
              </a:rPr>
              <a:t>tinggi</a:t>
            </a:r>
            <a:r>
              <a:rPr lang="en-US" dirty="0">
                <a:solidFill>
                  <a:srgbClr val="23231E"/>
                </a:solidFill>
                <a:latin typeface="Arial"/>
              </a:rPr>
              <a:t>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800" b="0" u="none" strike="noStrike" dirty="0">
                <a:solidFill>
                  <a:srgbClr val="23231E"/>
                </a:solidFill>
                <a:effectLst/>
                <a:uFillTx/>
                <a:latin typeface="Arial"/>
              </a:rPr>
              <a:t>• </a:t>
            </a:r>
            <a:r>
              <a:rPr lang="en-US" sz="1800" b="0" u="none" strike="noStrike" dirty="0" err="1">
                <a:solidFill>
                  <a:srgbClr val="23231E"/>
                </a:solidFill>
                <a:effectLst/>
                <a:uFillTx/>
                <a:latin typeface="Arial"/>
              </a:rPr>
              <a:t>Memudahkan</a:t>
            </a:r>
            <a:r>
              <a:rPr lang="en-US" sz="1800" b="0" u="none" strike="noStrike" dirty="0">
                <a:solidFill>
                  <a:srgbClr val="23231E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 dirty="0" err="1">
                <a:solidFill>
                  <a:srgbClr val="23231E"/>
                </a:solidFill>
                <a:effectLst/>
                <a:uFillTx/>
                <a:latin typeface="Arial"/>
              </a:rPr>
              <a:t>pelanggan</a:t>
            </a:r>
            <a:r>
              <a:rPr lang="en-US" sz="1800" b="0" u="none" strike="noStrike" dirty="0">
                <a:solidFill>
                  <a:srgbClr val="23231E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 dirty="0" err="1">
                <a:solidFill>
                  <a:srgbClr val="23231E"/>
                </a:solidFill>
                <a:effectLst/>
                <a:uFillTx/>
                <a:latin typeface="Arial"/>
              </a:rPr>
              <a:t>melakukan</a:t>
            </a:r>
            <a:r>
              <a:rPr lang="en-US" sz="1800" b="0" u="none" strike="noStrike" dirty="0">
                <a:solidFill>
                  <a:srgbClr val="23231E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 dirty="0" err="1">
                <a:solidFill>
                  <a:srgbClr val="23231E"/>
                </a:solidFill>
                <a:effectLst/>
                <a:uFillTx/>
                <a:latin typeface="Arial"/>
              </a:rPr>
              <a:t>pemesanan</a:t>
            </a:r>
            <a:r>
              <a:rPr lang="en-US" sz="1800" b="0" u="none" strike="noStrike" dirty="0">
                <a:solidFill>
                  <a:srgbClr val="23231E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 dirty="0" err="1">
                <a:solidFill>
                  <a:srgbClr val="23231E"/>
                </a:solidFill>
                <a:effectLst/>
                <a:uFillTx/>
                <a:latin typeface="Arial"/>
              </a:rPr>
              <a:t>melalui</a:t>
            </a:r>
            <a:r>
              <a:rPr lang="en-US" sz="1800" b="0" u="none" strike="noStrike" dirty="0">
                <a:solidFill>
                  <a:srgbClr val="23231E"/>
                </a:solidFill>
                <a:effectLst/>
                <a:uFillTx/>
                <a:latin typeface="Arial"/>
              </a:rPr>
              <a:t> form.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800" b="0" u="none" strike="noStrike" dirty="0">
                <a:solidFill>
                  <a:srgbClr val="23231E"/>
                </a:solidFill>
                <a:effectLst/>
                <a:uFillTx/>
                <a:latin typeface="Arial"/>
              </a:rPr>
              <a:t>• </a:t>
            </a:r>
            <a:r>
              <a:rPr lang="en-US" sz="1800" b="0" u="none" strike="noStrike" dirty="0" err="1">
                <a:solidFill>
                  <a:srgbClr val="23231E"/>
                </a:solidFill>
                <a:effectLst/>
                <a:uFillTx/>
                <a:latin typeface="Arial"/>
              </a:rPr>
              <a:t>Memberikan</a:t>
            </a:r>
            <a:r>
              <a:rPr lang="en-US" sz="1800" b="0" u="none" strike="noStrike" dirty="0">
                <a:solidFill>
                  <a:srgbClr val="23231E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 dirty="0" err="1">
                <a:solidFill>
                  <a:srgbClr val="23231E"/>
                </a:solidFill>
                <a:effectLst/>
                <a:uFillTx/>
                <a:latin typeface="Arial"/>
              </a:rPr>
              <a:t>informasi</a:t>
            </a:r>
            <a:r>
              <a:rPr lang="en-US" sz="1800" b="0" u="none" strike="noStrike" dirty="0">
                <a:solidFill>
                  <a:srgbClr val="23231E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 dirty="0" err="1">
                <a:solidFill>
                  <a:srgbClr val="23231E"/>
                </a:solidFill>
                <a:effectLst/>
                <a:uFillTx/>
                <a:latin typeface="Arial"/>
              </a:rPr>
              <a:t>lokasi</a:t>
            </a:r>
            <a:r>
              <a:rPr lang="en-US" sz="1800" b="0" u="none" strike="noStrike" dirty="0">
                <a:solidFill>
                  <a:srgbClr val="23231E"/>
                </a:solidFill>
                <a:effectLst/>
                <a:uFillTx/>
                <a:latin typeface="Arial"/>
              </a:rPr>
              <a:t> UMKM </a:t>
            </a:r>
            <a:r>
              <a:rPr lang="en-US" sz="1800" b="0" u="none" strike="noStrike" dirty="0" err="1">
                <a:solidFill>
                  <a:srgbClr val="23231E"/>
                </a:solidFill>
                <a:effectLst/>
                <a:uFillTx/>
                <a:latin typeface="Arial"/>
              </a:rPr>
              <a:t>secara</a:t>
            </a:r>
            <a:r>
              <a:rPr lang="en-US" sz="1800" b="0" u="none" strike="noStrike" dirty="0">
                <a:solidFill>
                  <a:srgbClr val="23231E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 dirty="0" err="1">
                <a:solidFill>
                  <a:srgbClr val="23231E"/>
                </a:solidFill>
                <a:effectLst/>
                <a:uFillTx/>
                <a:latin typeface="Arial"/>
              </a:rPr>
              <a:t>jelas</a:t>
            </a:r>
            <a:r>
              <a:rPr lang="en-US" sz="1800" b="0" u="none" strike="noStrike" dirty="0">
                <a:solidFill>
                  <a:srgbClr val="23231E"/>
                </a:solidFill>
                <a:effectLst/>
                <a:uFillTx/>
                <a:latin typeface="Arial"/>
              </a:rPr>
              <a:t>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800" b="0" u="none" strike="noStrike" dirty="0">
                <a:solidFill>
                  <a:srgbClr val="23231E"/>
                </a:solidFill>
                <a:effectLst/>
                <a:uFillTx/>
                <a:latin typeface="Arial"/>
              </a:rPr>
              <a:t>• </a:t>
            </a:r>
            <a:r>
              <a:rPr lang="en-US" sz="1800" b="0" u="none" strike="noStrike" dirty="0" err="1">
                <a:solidFill>
                  <a:srgbClr val="23231E"/>
                </a:solidFill>
                <a:effectLst/>
                <a:uFillTx/>
                <a:latin typeface="Arial"/>
              </a:rPr>
              <a:t>Membangun</a:t>
            </a:r>
            <a:r>
              <a:rPr lang="en-US" sz="1800" b="0" u="none" strike="noStrike" dirty="0">
                <a:solidFill>
                  <a:srgbClr val="23231E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 dirty="0" err="1">
                <a:solidFill>
                  <a:srgbClr val="23231E"/>
                </a:solidFill>
                <a:effectLst/>
                <a:uFillTx/>
                <a:latin typeface="Arial"/>
              </a:rPr>
              <a:t>tampilan</a:t>
            </a:r>
            <a:r>
              <a:rPr lang="en-US" sz="1800" b="0" u="none" strike="noStrike" dirty="0">
                <a:solidFill>
                  <a:srgbClr val="23231E"/>
                </a:solidFill>
                <a:effectLst/>
                <a:uFillTx/>
                <a:latin typeface="Arial"/>
              </a:rPr>
              <a:t> website yang </a:t>
            </a:r>
            <a:r>
              <a:rPr lang="en-US" sz="1800" b="0" u="none" strike="noStrike" dirty="0" err="1">
                <a:solidFill>
                  <a:srgbClr val="23231E"/>
                </a:solidFill>
                <a:effectLst/>
                <a:uFillTx/>
                <a:latin typeface="Arial"/>
              </a:rPr>
              <a:t>sesuai</a:t>
            </a:r>
            <a:r>
              <a:rPr lang="en-US" sz="1800" b="0" u="none" strike="noStrike" dirty="0">
                <a:solidFill>
                  <a:srgbClr val="23231E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 dirty="0" err="1">
                <a:solidFill>
                  <a:srgbClr val="23231E"/>
                </a:solidFill>
                <a:effectLst/>
                <a:uFillTx/>
                <a:latin typeface="Arial"/>
              </a:rPr>
              <a:t>dengan</a:t>
            </a:r>
            <a:r>
              <a:rPr lang="en-US" sz="1800" b="0" u="none" strike="noStrike" dirty="0">
                <a:solidFill>
                  <a:srgbClr val="23231E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 dirty="0" err="1">
                <a:solidFill>
                  <a:srgbClr val="23231E"/>
                </a:solidFill>
                <a:effectLst/>
                <a:uFillTx/>
                <a:latin typeface="Arial"/>
              </a:rPr>
              <a:t>identitas</a:t>
            </a:r>
            <a:r>
              <a:rPr lang="en-US" sz="1800" b="0" u="none" strike="noStrike" dirty="0">
                <a:solidFill>
                  <a:srgbClr val="23231E"/>
                </a:solidFill>
                <a:effectLst/>
                <a:uFillTx/>
                <a:latin typeface="Arial"/>
              </a:rPr>
              <a:t> visual </a:t>
            </a:r>
            <a:r>
              <a:rPr lang="en-US" sz="1800" b="0" u="none" strike="noStrike" dirty="0" err="1">
                <a:solidFill>
                  <a:srgbClr val="23231E"/>
                </a:solidFill>
                <a:effectLst/>
                <a:uFillTx/>
                <a:latin typeface="Arial"/>
              </a:rPr>
              <a:t>kedai</a:t>
            </a:r>
            <a:r>
              <a:rPr lang="en-US" sz="1800" b="0" u="none" strike="noStrike" dirty="0">
                <a:solidFill>
                  <a:srgbClr val="23231E"/>
                </a:solidFill>
                <a:effectLst/>
                <a:uFillTx/>
                <a:latin typeface="Arial"/>
              </a:rPr>
              <a:t>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ounded Rectangle 5"/>
          <p:cNvSpPr/>
          <p:nvPr/>
        </p:nvSpPr>
        <p:spPr>
          <a:xfrm>
            <a:off x="7726680" y="1417320"/>
            <a:ext cx="3428640" cy="4023000"/>
          </a:xfrm>
          <a:prstGeom prst="roundRect">
            <a:avLst>
              <a:gd name="adj" fmla="val 16667"/>
            </a:avLst>
          </a:prstGeom>
          <a:solidFill>
            <a:srgbClr val="FAE591"/>
          </a:solidFill>
          <a:ln>
            <a:solidFill>
              <a:srgbClr val="F1D55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6"/>
          <p:cNvSpPr/>
          <p:nvPr/>
        </p:nvSpPr>
        <p:spPr>
          <a:xfrm>
            <a:off x="8046720" y="178308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5C4830"/>
                </a:solidFill>
                <a:effectLst/>
                <a:uFillTx/>
                <a:latin typeface="Arial"/>
              </a:rPr>
              <a:t>USER FLOW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ounded Rectangle 7"/>
          <p:cNvSpPr/>
          <p:nvPr/>
        </p:nvSpPr>
        <p:spPr>
          <a:xfrm>
            <a:off x="8366760" y="2423160"/>
            <a:ext cx="2148480" cy="50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5C483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 dirty="0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Box 8"/>
          <p:cNvSpPr/>
          <p:nvPr/>
        </p:nvSpPr>
        <p:spPr>
          <a:xfrm>
            <a:off x="8366760" y="2569320"/>
            <a:ext cx="214848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dirty="0" err="1">
                <a:solidFill>
                  <a:srgbClr val="23231E"/>
                </a:solidFill>
                <a:latin typeface="Arial"/>
              </a:rPr>
              <a:t>Mengenal</a:t>
            </a:r>
            <a:r>
              <a:rPr lang="en-US" sz="1200" b="1" u="none" strike="noStrike" dirty="0">
                <a:solidFill>
                  <a:srgbClr val="23231E"/>
                </a:solidFill>
                <a:effectLst/>
                <a:uFillTx/>
                <a:latin typeface="Arial"/>
              </a:rPr>
              <a:t> UMKM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9"/>
          <p:cNvSpPr/>
          <p:nvPr/>
        </p:nvSpPr>
        <p:spPr>
          <a:xfrm>
            <a:off x="9281160" y="2944440"/>
            <a:ext cx="3196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5C4830"/>
                </a:solidFill>
                <a:effectLst/>
                <a:uFillTx/>
                <a:latin typeface="Arial"/>
              </a:rPr>
              <a:t>↓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ounded Rectangle 10"/>
          <p:cNvSpPr/>
          <p:nvPr/>
        </p:nvSpPr>
        <p:spPr>
          <a:xfrm>
            <a:off x="8366760" y="3246120"/>
            <a:ext cx="2148480" cy="50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5C483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11"/>
          <p:cNvSpPr/>
          <p:nvPr/>
        </p:nvSpPr>
        <p:spPr>
          <a:xfrm>
            <a:off x="8366760" y="3392280"/>
            <a:ext cx="21484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3231E"/>
                </a:solidFill>
                <a:effectLst/>
                <a:uFillTx/>
                <a:latin typeface="Arial"/>
              </a:rPr>
              <a:t>Lihat Produk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12"/>
          <p:cNvSpPr/>
          <p:nvPr/>
        </p:nvSpPr>
        <p:spPr>
          <a:xfrm>
            <a:off x="9281160" y="3767400"/>
            <a:ext cx="3196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5C4830"/>
                </a:solidFill>
                <a:effectLst/>
                <a:uFillTx/>
                <a:latin typeface="Arial"/>
              </a:rPr>
              <a:t>↓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Rounded Rectangle 13"/>
          <p:cNvSpPr/>
          <p:nvPr/>
        </p:nvSpPr>
        <p:spPr>
          <a:xfrm>
            <a:off x="8366760" y="4069080"/>
            <a:ext cx="2148480" cy="50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5C483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14"/>
          <p:cNvSpPr/>
          <p:nvPr/>
        </p:nvSpPr>
        <p:spPr>
          <a:xfrm>
            <a:off x="8366760" y="4215240"/>
            <a:ext cx="21484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3231E"/>
                </a:solidFill>
                <a:effectLst/>
                <a:uFillTx/>
                <a:latin typeface="Arial"/>
              </a:rPr>
              <a:t>Isi Pesanan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15"/>
          <p:cNvSpPr/>
          <p:nvPr/>
        </p:nvSpPr>
        <p:spPr>
          <a:xfrm>
            <a:off x="594360" y="6510600"/>
            <a:ext cx="86864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Pemrograman Interface • UMKM Ayam Grobok Bang Jarwo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1"/>
          <p:cNvSpPr/>
          <p:nvPr/>
        </p:nvSpPr>
        <p:spPr>
          <a:xfrm>
            <a:off x="0" y="0"/>
            <a:ext cx="12191400" cy="164160"/>
          </a:xfrm>
          <a:prstGeom prst="rect">
            <a:avLst/>
          </a:prstGeom>
          <a:solidFill>
            <a:srgbClr val="F1D55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Box 2"/>
          <p:cNvSpPr/>
          <p:nvPr/>
        </p:nvSpPr>
        <p:spPr>
          <a:xfrm>
            <a:off x="594360" y="384120"/>
            <a:ext cx="98751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23231E"/>
                </a:solidFill>
                <a:effectLst/>
                <a:uFillTx/>
                <a:latin typeface="Georgia"/>
              </a:rPr>
              <a:t>Struktur Halaman Website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3"/>
          <p:cNvSpPr/>
          <p:nvPr/>
        </p:nvSpPr>
        <p:spPr>
          <a:xfrm>
            <a:off x="11109960" y="411480"/>
            <a:ext cx="456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C4830"/>
                </a:solidFill>
                <a:effectLst/>
                <a:uFillTx/>
                <a:latin typeface="Arial"/>
              </a:rPr>
              <a:t>04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Rounded Rectangle 4"/>
          <p:cNvSpPr/>
          <p:nvPr/>
        </p:nvSpPr>
        <p:spPr>
          <a:xfrm>
            <a:off x="731520" y="1828800"/>
            <a:ext cx="3062880" cy="310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FAE59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Box 5"/>
          <p:cNvSpPr/>
          <p:nvPr/>
        </p:nvSpPr>
        <p:spPr>
          <a:xfrm>
            <a:off x="932760" y="1993320"/>
            <a:ext cx="26604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5C4830"/>
                </a:solidFill>
                <a:effectLst/>
                <a:uFillTx/>
                <a:latin typeface="Georgia"/>
              </a:rPr>
              <a:t>HALAMAN 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6"/>
          <p:cNvSpPr/>
          <p:nvPr/>
        </p:nvSpPr>
        <p:spPr>
          <a:xfrm>
            <a:off x="932760" y="2395800"/>
            <a:ext cx="2660400" cy="239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Beranda</a:t>
            </a:r>
            <a:br>
              <a:rPr sz="1250"/>
            </a:br>
            <a:br>
              <a:rPr sz="1250"/>
            </a:br>
            <a:r>
              <a:rPr lang="en-US" sz="125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Deskripsi • Produk unggulan • Lokasi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7"/>
          <p:cNvSpPr/>
          <p:nvPr/>
        </p:nvSpPr>
        <p:spPr>
          <a:xfrm>
            <a:off x="3657600" y="297180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5C4830"/>
                </a:solidFill>
                <a:effectLst/>
                <a:uFillTx/>
                <a:latin typeface="Arial"/>
              </a:rPr>
              <a:t>→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ounded Rectangle 8"/>
          <p:cNvSpPr/>
          <p:nvPr/>
        </p:nvSpPr>
        <p:spPr>
          <a:xfrm>
            <a:off x="4160520" y="1828800"/>
            <a:ext cx="3062880" cy="310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FAE59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9"/>
          <p:cNvSpPr/>
          <p:nvPr/>
        </p:nvSpPr>
        <p:spPr>
          <a:xfrm>
            <a:off x="4361760" y="1993320"/>
            <a:ext cx="26604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5C4830"/>
                </a:solidFill>
                <a:effectLst/>
                <a:uFillTx/>
                <a:latin typeface="Georgia"/>
              </a:rPr>
              <a:t>HALAMAN 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10"/>
          <p:cNvSpPr/>
          <p:nvPr/>
        </p:nvSpPr>
        <p:spPr>
          <a:xfrm>
            <a:off x="4361760" y="2395800"/>
            <a:ext cx="2660400" cy="239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Daftar Produk</a:t>
            </a:r>
            <a:br>
              <a:rPr sz="1250"/>
            </a:br>
            <a:br>
              <a:rPr sz="1250"/>
            </a:br>
            <a:r>
              <a:rPr lang="en-US" sz="125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Tabel produk • Gambar • Harga • Stok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11"/>
          <p:cNvSpPr/>
          <p:nvPr/>
        </p:nvSpPr>
        <p:spPr>
          <a:xfrm>
            <a:off x="7086600" y="297180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5C4830"/>
                </a:solidFill>
                <a:effectLst/>
                <a:uFillTx/>
                <a:latin typeface="Arial"/>
              </a:rPr>
              <a:t>→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Rounded Rectangle 12"/>
          <p:cNvSpPr/>
          <p:nvPr/>
        </p:nvSpPr>
        <p:spPr>
          <a:xfrm>
            <a:off x="7589520" y="1828800"/>
            <a:ext cx="3062880" cy="310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FAE59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TextBox 13"/>
          <p:cNvSpPr/>
          <p:nvPr/>
        </p:nvSpPr>
        <p:spPr>
          <a:xfrm>
            <a:off x="7790760" y="1993320"/>
            <a:ext cx="26604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5C4830"/>
                </a:solidFill>
                <a:effectLst/>
                <a:uFillTx/>
                <a:latin typeface="Georgia"/>
              </a:rPr>
              <a:t>HALAMAN 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14"/>
          <p:cNvSpPr/>
          <p:nvPr/>
        </p:nvSpPr>
        <p:spPr>
          <a:xfrm>
            <a:off x="7790760" y="2395800"/>
            <a:ext cx="2660400" cy="239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Form Pemesanan</a:t>
            </a:r>
            <a:br>
              <a:rPr sz="1250"/>
            </a:br>
            <a:br>
              <a:rPr sz="1250"/>
            </a:br>
            <a:r>
              <a:rPr lang="en-US" sz="125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Data pelanggan • Produk • Pembayaran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15"/>
          <p:cNvSpPr/>
          <p:nvPr/>
        </p:nvSpPr>
        <p:spPr>
          <a:xfrm>
            <a:off x="914400" y="5440680"/>
            <a:ext cx="98751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Navigasi utama menggunakan menu Home, Produk, dan Informasi.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16"/>
          <p:cNvSpPr/>
          <p:nvPr/>
        </p:nvSpPr>
        <p:spPr>
          <a:xfrm>
            <a:off x="594360" y="6510600"/>
            <a:ext cx="86864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Pemrograman Interface • UMKM Ayam Grobok Bang Jarwo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1"/>
          <p:cNvSpPr/>
          <p:nvPr/>
        </p:nvSpPr>
        <p:spPr>
          <a:xfrm>
            <a:off x="0" y="0"/>
            <a:ext cx="12191400" cy="164160"/>
          </a:xfrm>
          <a:prstGeom prst="rect">
            <a:avLst/>
          </a:prstGeom>
          <a:solidFill>
            <a:srgbClr val="F1D55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TextBox 2"/>
          <p:cNvSpPr/>
          <p:nvPr/>
        </p:nvSpPr>
        <p:spPr>
          <a:xfrm>
            <a:off x="594360" y="384120"/>
            <a:ext cx="98751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23231E"/>
                </a:solidFill>
                <a:effectLst/>
                <a:uFillTx/>
                <a:latin typeface="Georgia"/>
              </a:rPr>
              <a:t>Wireframe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3"/>
          <p:cNvSpPr/>
          <p:nvPr/>
        </p:nvSpPr>
        <p:spPr>
          <a:xfrm>
            <a:off x="11109960" y="411480"/>
            <a:ext cx="456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C4830"/>
                </a:solidFill>
                <a:effectLst/>
                <a:uFillTx/>
                <a:latin typeface="Arial"/>
              </a:rPr>
              <a:t>05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4"/>
          <p:cNvSpPr/>
          <p:nvPr/>
        </p:nvSpPr>
        <p:spPr>
          <a:xfrm>
            <a:off x="685800" y="1051560"/>
            <a:ext cx="10515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5C4830"/>
                </a:solidFill>
                <a:effectLst/>
                <a:uFillTx/>
                <a:latin typeface="Georgia"/>
              </a:rPr>
              <a:t>Wireframe digunakan sebagai acuan sebelum implementasi coding.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Rectangle 6"/>
          <p:cNvSpPr/>
          <p:nvPr/>
        </p:nvSpPr>
        <p:spPr>
          <a:xfrm>
            <a:off x="2201046" y="1600200"/>
            <a:ext cx="7789908" cy="4388760"/>
          </a:xfrm>
          <a:prstGeom prst="rect">
            <a:avLst/>
          </a:prstGeom>
          <a:noFill/>
          <a:ln w="15240">
            <a:solidFill>
              <a:srgbClr val="FAE59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TextBox 9"/>
          <p:cNvSpPr/>
          <p:nvPr/>
        </p:nvSpPr>
        <p:spPr>
          <a:xfrm>
            <a:off x="2745827" y="6126480"/>
            <a:ext cx="6240517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457200"/>
            <a:r>
              <a:rPr lang="en-US" sz="1200" b="1" u="none" strike="noStrike" dirty="0">
                <a:solidFill>
                  <a:srgbClr val="5C4830"/>
                </a:solidFill>
                <a:effectLst/>
                <a:uFillTx/>
                <a:latin typeface="Arial"/>
              </a:rPr>
              <a:t>Halaman 1 — </a:t>
            </a:r>
            <a:r>
              <a:rPr lang="en-US" sz="1200" b="1" u="none" strike="noStrike" dirty="0" err="1">
                <a:solidFill>
                  <a:srgbClr val="5C4830"/>
                </a:solidFill>
                <a:effectLst/>
                <a:uFillTx/>
                <a:latin typeface="Arial"/>
              </a:rPr>
              <a:t>Beranda</a:t>
            </a:r>
            <a:r>
              <a:rPr lang="en-US" sz="1200" b="1" u="none" strike="noStrike" dirty="0">
                <a:solidFill>
                  <a:srgbClr val="5C4830"/>
                </a:solidFill>
                <a:effectLst/>
                <a:uFillTx/>
                <a:latin typeface="Arial"/>
              </a:rPr>
              <a:t>, Halaman 2 &amp; 3 — </a:t>
            </a:r>
            <a:r>
              <a:rPr lang="en-US" sz="1200" b="1" u="none" strike="noStrike" dirty="0" err="1">
                <a:solidFill>
                  <a:srgbClr val="5C4830"/>
                </a:solidFill>
                <a:effectLst/>
                <a:uFillTx/>
                <a:latin typeface="Arial"/>
              </a:rPr>
              <a:t>Produk</a:t>
            </a:r>
            <a:r>
              <a:rPr lang="en-US" sz="1200" b="1" u="none" strike="noStrike" dirty="0">
                <a:solidFill>
                  <a:srgbClr val="5C4830"/>
                </a:solidFill>
                <a:effectLst/>
                <a:uFillTx/>
                <a:latin typeface="Arial"/>
              </a:rPr>
              <a:t> dan </a:t>
            </a:r>
            <a:r>
              <a:rPr lang="en-US" sz="1200" b="1" u="none" strike="noStrike" dirty="0" err="1">
                <a:solidFill>
                  <a:srgbClr val="5C4830"/>
                </a:solidFill>
                <a:effectLst/>
                <a:uFillTx/>
                <a:latin typeface="Arial"/>
              </a:rPr>
              <a:t>Pemesanan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11"/>
          <p:cNvSpPr/>
          <p:nvPr/>
        </p:nvSpPr>
        <p:spPr>
          <a:xfrm>
            <a:off x="594360" y="6510600"/>
            <a:ext cx="86864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Pemrograman Interface • UMKM Ayam Grobok Bang Jarwo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276129-5C23-434D-9847-77662D4ADC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1046" y="1624866"/>
            <a:ext cx="7758709" cy="43642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3E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739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Georgia"/>
              </a:defRPr>
            </a:pPr>
            <a:r>
              <a:t>Color Palette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3891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4F0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7736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B4F00"/>
                </a:solidFill>
                <a:latin typeface="Georgia"/>
              </a:defRPr>
            </a:pPr>
            <a:r>
              <a:t>Palet warna mengikuti warna utama yang digunakan pada CSS website Ayam Grobok Bang Jarwo.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783080" cy="685800"/>
          </a:xfrm>
          <a:prstGeom prst="roundRect">
            <a:avLst/>
          </a:prstGeom>
          <a:solidFill>
            <a:srgbClr val="F3E11D"/>
          </a:solidFill>
          <a:ln>
            <a:solidFill>
              <a:srgbClr val="6B4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54203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#F3E11D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0720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4F00"/>
                </a:solidFill>
                <a:latin typeface="Arial"/>
              </a:defRPr>
            </a:pPr>
            <a:r>
              <a:t>Primary Yellow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783080"/>
            <a:ext cx="1783080" cy="685800"/>
          </a:xfrm>
          <a:prstGeom prst="roundRect">
            <a:avLst/>
          </a:prstGeom>
          <a:solidFill>
            <a:srgbClr val="FFF7C7"/>
          </a:solidFill>
          <a:ln>
            <a:solidFill>
              <a:srgbClr val="6B4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71800" y="254203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#FFF7C7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80720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4F00"/>
                </a:solidFill>
                <a:latin typeface="Arial"/>
              </a:defRPr>
            </a:pPr>
            <a:r>
              <a:t>Yellow Light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1783080"/>
            <a:ext cx="1783080" cy="685800"/>
          </a:xfrm>
          <a:prstGeom prst="roundRect">
            <a:avLst/>
          </a:prstGeom>
          <a:solidFill>
            <a:srgbClr val="FFE98A"/>
          </a:solidFill>
          <a:ln>
            <a:solidFill>
              <a:srgbClr val="6B4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12080" y="254203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#FFE98A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80720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4F00"/>
                </a:solidFill>
                <a:latin typeface="Arial"/>
              </a:defRPr>
            </a:pPr>
            <a:r>
              <a:t>Yellow Soft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783080"/>
            <a:ext cx="1783080" cy="685800"/>
          </a:xfrm>
          <a:prstGeom prst="roundRect">
            <a:avLst/>
          </a:prstGeom>
          <a:solidFill>
            <a:srgbClr val="EAEA6D"/>
          </a:solidFill>
          <a:ln>
            <a:solidFill>
              <a:srgbClr val="6B4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52360" y="254203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#EAEA6D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280720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4F00"/>
                </a:solidFill>
                <a:latin typeface="Arial"/>
              </a:defRPr>
            </a:pPr>
            <a:r>
              <a:t>Header Light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0" y="1783080"/>
            <a:ext cx="1783080" cy="685800"/>
          </a:xfrm>
          <a:prstGeom prst="roundRect">
            <a:avLst/>
          </a:prstGeom>
          <a:solidFill>
            <a:srgbClr val="F0E188"/>
          </a:solidFill>
          <a:ln>
            <a:solidFill>
              <a:srgbClr val="6B4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92640" y="254203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#F0E188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280720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4F00"/>
                </a:solidFill>
                <a:latin typeface="Arial"/>
              </a:defRPr>
            </a:pPr>
            <a:r>
              <a:t>Header Soft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749039"/>
            <a:ext cx="1783080" cy="685800"/>
          </a:xfrm>
          <a:prstGeom prst="roundRect">
            <a:avLst/>
          </a:prstGeom>
          <a:solidFill>
            <a:srgbClr val="FCFCB3"/>
          </a:solidFill>
          <a:ln>
            <a:solidFill>
              <a:srgbClr val="6B4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450799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#FCFCB3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77316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4F00"/>
                </a:solidFill>
                <a:latin typeface="Arial"/>
              </a:defRPr>
            </a:pPr>
            <a:r>
              <a:t>Footer Light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71800" y="3749039"/>
            <a:ext cx="1783080" cy="685800"/>
          </a:xfrm>
          <a:prstGeom prst="roundRect">
            <a:avLst/>
          </a:prstGeom>
          <a:solidFill>
            <a:srgbClr val="E2E45F"/>
          </a:solidFill>
          <a:ln>
            <a:solidFill>
              <a:srgbClr val="6B4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71800" y="450799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#E2E45F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1800" y="477316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4F00"/>
                </a:solidFill>
                <a:latin typeface="Arial"/>
              </a:defRPr>
            </a:pPr>
            <a:r>
              <a:t>Footer Soft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12080" y="3749039"/>
            <a:ext cx="1783080" cy="685800"/>
          </a:xfrm>
          <a:prstGeom prst="roundRect">
            <a:avLst/>
          </a:prstGeom>
          <a:solidFill>
            <a:srgbClr val="6B4F00"/>
          </a:solidFill>
          <a:ln>
            <a:solidFill>
              <a:srgbClr val="6B4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212080" y="450799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#6B4F00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77316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4F00"/>
                </a:solidFill>
                <a:latin typeface="Arial"/>
              </a:defRPr>
            </a:pPr>
            <a:r>
              <a:t>Brown Accent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52360" y="3749039"/>
            <a:ext cx="1783080" cy="685800"/>
          </a:xfrm>
          <a:prstGeom prst="roundRect">
            <a:avLst/>
          </a:prstGeom>
          <a:solidFill>
            <a:srgbClr val="000000"/>
          </a:solidFill>
          <a:ln>
            <a:solidFill>
              <a:srgbClr val="6B4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52360" y="450799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#000000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477316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4F00"/>
                </a:solidFill>
                <a:latin typeface="Arial"/>
              </a:defRPr>
            </a:pPr>
            <a:r>
              <a:t>Black / Text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92640" y="3749039"/>
            <a:ext cx="17830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6B4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692640" y="450799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#FFFFFF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477316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4F00"/>
                </a:solidFill>
                <a:latin typeface="Arial"/>
              </a:defRPr>
            </a:pPr>
            <a:r>
              <a:t>White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3E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Georgia"/>
              </a:defRPr>
            </a:pPr>
            <a:r>
              <a:t>Typography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3891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4F0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8755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B4F00"/>
                </a:solidFill>
                <a:latin typeface="Georgia"/>
              </a:defRPr>
            </a:pPr>
            <a:r>
              <a:t>Website menggunakan Georgia sebagai font utama, dengan fallback Times New Roman, Times, dan serif.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649224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FFE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100" b="1">
                <a:solidFill>
                  <a:srgbClr val="000000"/>
                </a:solidFill>
                <a:latin typeface="Georgia"/>
              </a:defRPr>
            </a:pPr>
            <a:r>
              <a:t>GEORGIA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4F00"/>
                </a:solidFill>
                <a:latin typeface="Arial"/>
              </a:defRPr>
            </a:pPr>
            <a:r>
              <a:t>Heading / Judul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46120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000000"/>
                </a:solidFill>
                <a:latin typeface="Georgia"/>
              </a:defRPr>
            </a:pPr>
            <a:r>
              <a:t>Ayam Grobok Bang Jarwo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977639"/>
            <a:ext cx="5577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Georgia"/>
              </a:defRPr>
            </a:pPr>
            <a:r>
              <a:t>Body text menggunakan typeface yang sama agar tampilan konsisten dan mudah dibaca.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98348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4F00"/>
                </a:solidFill>
                <a:latin typeface="Arial"/>
              </a:defRPr>
            </a:pPr>
            <a:r>
              <a:t>Fallback: Times New Roman, Times, serif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18288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4F00"/>
                </a:solidFill>
                <a:latin typeface="Arial"/>
              </a:defRPr>
            </a:pPr>
            <a:r>
              <a:t>HIERARCHY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3317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000000"/>
                </a:solidFill>
                <a:latin typeface="Georgia"/>
              </a:defRPr>
            </a:pPr>
            <a:r>
              <a:t>Heading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29260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Georgia"/>
              </a:defRPr>
            </a:pPr>
            <a:r>
              <a:t>Heading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349300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Georgia"/>
              </a:defRPr>
            </a:pPr>
            <a:r>
              <a:t>Body 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40416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0000"/>
                </a:solidFill>
                <a:latin typeface="Georgia"/>
              </a:defRPr>
            </a:pPr>
            <a:r>
              <a:t>Navigation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45537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Georgia"/>
              </a:defRPr>
            </a:pPr>
            <a:r>
              <a:t>Button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4480560"/>
            <a:ext cx="3383280" cy="502920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35240" y="4626864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Georgia"/>
              </a:defRPr>
            </a:pPr>
            <a:r>
              <a:t>Button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52578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4F00"/>
                </a:solidFill>
                <a:latin typeface="Arial"/>
              </a:defRPr>
            </a:pPr>
            <a:r>
              <a:t>Sumber: aturan font pada CSS website.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3E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Georgia"/>
              </a:defRPr>
            </a:pPr>
            <a:r>
              <a:t>Buttons &amp; UI Elements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3891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4F0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8755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B4F00"/>
                </a:solidFill>
                <a:latin typeface="Georgia"/>
              </a:defRPr>
            </a:pPr>
            <a:r>
              <a:t>Elemen tombol dan interface mengikuti aturan CSS yang sudah diterapkan pada website.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B4F00"/>
                </a:solidFill>
                <a:latin typeface="Arial"/>
              </a:defRPr>
            </a:pPr>
            <a:r>
              <a:t>NORMAL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40280"/>
            <a:ext cx="2743200" cy="685800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45059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Georgia"/>
              </a:defRPr>
            </a:pPr>
            <a:r>
              <a:t>Lihat Produk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1828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B4F00"/>
                </a:solidFill>
                <a:latin typeface="Arial"/>
              </a:defRPr>
            </a:pPr>
            <a:r>
              <a:t>HOVER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2240280"/>
            <a:ext cx="2743200" cy="685800"/>
          </a:xfrm>
          <a:prstGeom prst="roundRect">
            <a:avLst/>
          </a:prstGeom>
          <a:solidFill>
            <a:srgbClr val="6B4F00"/>
          </a:solidFill>
          <a:ln>
            <a:solidFill>
              <a:srgbClr val="6B4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9160" y="245059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Georgia"/>
              </a:defRPr>
            </a:pPr>
            <a:r>
              <a:t>Lihat Produk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1828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B4F00"/>
                </a:solidFill>
                <a:latin typeface="Arial"/>
              </a:defRPr>
            </a:pPr>
            <a:r>
              <a:t>DROPDOWN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2240280"/>
            <a:ext cx="2743200" cy="1828800"/>
          </a:xfrm>
          <a:prstGeom prst="roundRect">
            <a:avLst/>
          </a:prstGeom>
          <a:solidFill>
            <a:srgbClr val="FFF7C7"/>
          </a:solidFill>
          <a:ln>
            <a:solidFill>
              <a:srgbClr val="6B4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32520" y="254203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Georgia"/>
              </a:defRPr>
            </a:pPr>
            <a:r>
              <a:t>Produk Unggulan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2980944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Georgia"/>
              </a:defRPr>
            </a:pPr>
            <a:r>
              <a:t>Lokasi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3419856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Georgia"/>
              </a:defRPr>
            </a:pPr>
            <a:r>
              <a:t>Pemesanan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03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B4F00"/>
                </a:solidFill>
                <a:latin typeface="Georgia"/>
              </a:defRPr>
            </a:pPr>
            <a:r>
              <a:t>Spesifikasi Button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60520"/>
            <a:ext cx="4754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  <a:latin typeface="Arial"/>
              </a:defRPr>
            </a:pPr>
            <a:r>
              <a:t>• Background normal: #000000</a:t>
            </a:r>
            <a:br/>
            <a:r>
              <a:t>• Text: #FFFFFF</a:t>
            </a:r>
            <a:br/>
            <a:r>
              <a:t>• Font: Georgia, bold</a:t>
            </a:r>
            <a:br/>
            <a:r>
              <a:t>• Border radius: 12px</a:t>
            </a:r>
            <a:br/>
            <a:r>
              <a:t>• Hover: #6B4F00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703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B4F00"/>
                </a:solidFill>
                <a:latin typeface="Georgia"/>
              </a:defRPr>
            </a:pPr>
            <a:r>
              <a:t>UI pendukung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160520"/>
            <a:ext cx="4754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  <a:latin typeface="Arial"/>
              </a:defRPr>
            </a:pPr>
            <a:r>
              <a:t>• Header dengan gradient kuning</a:t>
            </a:r>
            <a:br/>
            <a:r>
              <a:t>• Dropdown gradient kuning</a:t>
            </a:r>
            <a:br/>
            <a:r>
              <a:t>• Card produk dengan border hitam</a:t>
            </a:r>
            <a:br/>
            <a:r>
              <a:t>• Section background cream / yellow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3E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Georgia"/>
              </a:defRPr>
            </a:pPr>
            <a:r>
              <a:t>Style Guide — Ringkasan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3891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4F00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000000"/>
                </a:solidFill>
                <a:latin typeface="Georgia"/>
              </a:defRPr>
            </a:pPr>
            <a:r>
              <a:t>Identitas visual website Ayam Grobok Bang Jarwo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11680"/>
            <a:ext cx="24688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F3E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26771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B4F00"/>
                </a:solidFill>
                <a:latin typeface="Arial"/>
              </a:defRPr>
            </a:pPr>
            <a:r>
              <a:t>COLOR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  <a:latin typeface="Georgia"/>
              </a:defRPr>
            </a:pPr>
            <a:r>
              <a:t>#F3E11D</a:t>
            </a:r>
            <a:br/>
            <a:r>
              <a:t>#FFF7C7</a:t>
            </a:r>
            <a:br/>
            <a:r>
              <a:t>#FFE98A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703320"/>
            <a:ext cx="21396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6B4F00"/>
                </a:solidFill>
                <a:latin typeface="Arial"/>
              </a:defRPr>
            </a:pPr>
            <a:r>
              <a:t>Kuning menjadi warna dominan.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2011680"/>
            <a:ext cx="24688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F3E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0" y="226771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B4F00"/>
                </a:solidFill>
                <a:latin typeface="Arial"/>
              </a:defRPr>
            </a:pPr>
            <a:r>
              <a:t>TYPEFACE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7432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  <a:latin typeface="Georgia"/>
              </a:defRPr>
            </a:pPr>
            <a:r>
              <a:t>Georgia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2" y="3703320"/>
            <a:ext cx="21396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6B4F00"/>
                </a:solidFill>
                <a:latin typeface="Arial"/>
              </a:defRPr>
            </a:pPr>
            <a:r>
              <a:t>Digunakan sebagai font utama website.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011680"/>
            <a:ext cx="24688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F3E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226771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B4F00"/>
                </a:solidFill>
                <a:latin typeface="Arial"/>
              </a:defRPr>
            </a:pPr>
            <a:r>
              <a:t>BUTTON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7432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  <a:latin typeface="Georgia"/>
              </a:defRPr>
            </a:pPr>
            <a:r>
              <a:t>#000000</a:t>
            </a:r>
            <a:br/>
            <a:r>
              <a:t>→ #6B4F00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3703320"/>
            <a:ext cx="21396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6B4F00"/>
                </a:solidFill>
                <a:latin typeface="Arial"/>
              </a:defRPr>
            </a:pPr>
            <a:r>
              <a:t>Black saat normal, brown saat hover.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2011680"/>
            <a:ext cx="24688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F3E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0" y="226771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B4F00"/>
                </a:solidFill>
                <a:latin typeface="Arial"/>
              </a:defRPr>
            </a:pPr>
            <a:r>
              <a:t>SHAPE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7432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  <a:latin typeface="Georgia"/>
              </a:defRPr>
            </a:pPr>
            <a:r>
              <a:t>Radius 12px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54312" y="3703320"/>
            <a:ext cx="21396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6B4F00"/>
                </a:solidFill>
                <a:latin typeface="Arial"/>
              </a:defRPr>
            </a:pPr>
            <a:r>
              <a:t>Tampilan tombol dibuat rounded.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16636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4F00"/>
                </a:solidFill>
                <a:latin typeface="Arial"/>
              </a:defRPr>
            </a:pPr>
            <a:r>
              <a:t>Style guide ini diambil dari implementasi CSS website yang sedang digunakan.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Rectangle 1"/>
          <p:cNvSpPr/>
          <p:nvPr/>
        </p:nvSpPr>
        <p:spPr>
          <a:xfrm>
            <a:off x="0" y="0"/>
            <a:ext cx="12191400" cy="164160"/>
          </a:xfrm>
          <a:prstGeom prst="rect">
            <a:avLst/>
          </a:prstGeom>
          <a:solidFill>
            <a:srgbClr val="F1D55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TextBox 2"/>
          <p:cNvSpPr/>
          <p:nvPr/>
        </p:nvSpPr>
        <p:spPr>
          <a:xfrm>
            <a:off x="365760" y="143400"/>
            <a:ext cx="98751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600" b="1" u="none" strike="noStrike" dirty="0" err="1">
                <a:solidFill>
                  <a:srgbClr val="23231E"/>
                </a:solidFill>
                <a:effectLst/>
                <a:uFillTx/>
                <a:latin typeface="Georgia"/>
              </a:rPr>
              <a:t>Implementasi</a:t>
            </a:r>
            <a:r>
              <a:rPr lang="en-US" sz="2600" b="1" u="none" strike="noStrike" dirty="0">
                <a:solidFill>
                  <a:srgbClr val="23231E"/>
                </a:solidFill>
                <a:effectLst/>
                <a:uFillTx/>
                <a:latin typeface="Georgia"/>
              </a:rPr>
              <a:t> — Halaman </a:t>
            </a:r>
            <a:r>
              <a:rPr lang="en-US" sz="2600" b="1" u="none" strike="noStrike" dirty="0" err="1">
                <a:solidFill>
                  <a:srgbClr val="23231E"/>
                </a:solidFill>
                <a:effectLst/>
                <a:uFillTx/>
                <a:latin typeface="Georgia"/>
              </a:rPr>
              <a:t>Beranda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3"/>
          <p:cNvSpPr/>
          <p:nvPr/>
        </p:nvSpPr>
        <p:spPr>
          <a:xfrm>
            <a:off x="11109960" y="411480"/>
            <a:ext cx="456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C4830"/>
                </a:solidFill>
                <a:effectLst/>
                <a:uFillTx/>
                <a:latin typeface="Arial"/>
              </a:rPr>
              <a:t>07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Rectangle 5"/>
          <p:cNvSpPr/>
          <p:nvPr/>
        </p:nvSpPr>
        <p:spPr>
          <a:xfrm>
            <a:off x="1866900" y="880800"/>
            <a:ext cx="3552825" cy="5558100"/>
          </a:xfrm>
          <a:prstGeom prst="rect">
            <a:avLst/>
          </a:prstGeom>
          <a:noFill/>
          <a:ln w="15240">
            <a:solidFill>
              <a:srgbClr val="FAE59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Rounded Rectangle 6"/>
          <p:cNvSpPr/>
          <p:nvPr/>
        </p:nvSpPr>
        <p:spPr>
          <a:xfrm>
            <a:off x="6095700" y="855360"/>
            <a:ext cx="3337200" cy="1142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FAE59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TextBox 7"/>
          <p:cNvSpPr/>
          <p:nvPr/>
        </p:nvSpPr>
        <p:spPr>
          <a:xfrm>
            <a:off x="6095700" y="1034760"/>
            <a:ext cx="29347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 dirty="0">
                <a:solidFill>
                  <a:srgbClr val="5C4830"/>
                </a:solidFill>
                <a:effectLst/>
                <a:uFillTx/>
                <a:latin typeface="Georgia"/>
              </a:rPr>
              <a:t>Hero Section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8"/>
          <p:cNvSpPr/>
          <p:nvPr/>
        </p:nvSpPr>
        <p:spPr>
          <a:xfrm>
            <a:off x="6095700" y="1499760"/>
            <a:ext cx="293472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u="none" strike="noStrike" dirty="0" err="1">
                <a:solidFill>
                  <a:srgbClr val="69695F"/>
                </a:solidFill>
                <a:effectLst/>
                <a:uFillTx/>
                <a:latin typeface="Arial"/>
              </a:rPr>
              <a:t>Deskripsi</a:t>
            </a:r>
            <a:r>
              <a:rPr lang="en-US" sz="1250" b="0" u="none" strike="noStrike" dirty="0">
                <a:solidFill>
                  <a:srgbClr val="69695F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trike="noStrike" dirty="0" err="1">
                <a:solidFill>
                  <a:srgbClr val="69695F"/>
                </a:solidFill>
                <a:effectLst/>
                <a:uFillTx/>
                <a:latin typeface="Arial"/>
              </a:rPr>
              <a:t>singkat</a:t>
            </a:r>
            <a:r>
              <a:rPr lang="en-US" sz="1250" b="0" u="none" strike="noStrike" dirty="0">
                <a:solidFill>
                  <a:srgbClr val="69695F"/>
                </a:solidFill>
                <a:effectLst/>
                <a:uFillTx/>
                <a:latin typeface="Arial"/>
              </a:rPr>
              <a:t> UMKM + </a:t>
            </a:r>
            <a:r>
              <a:rPr lang="en-US" sz="1250" b="0" u="none" strike="noStrike" dirty="0" err="1">
                <a:solidFill>
                  <a:srgbClr val="69695F"/>
                </a:solidFill>
                <a:effectLst/>
                <a:uFillTx/>
                <a:latin typeface="Arial"/>
              </a:rPr>
              <a:t>tombol</a:t>
            </a:r>
            <a:r>
              <a:rPr lang="en-US" sz="1250" b="0" u="none" strike="noStrike" dirty="0">
                <a:solidFill>
                  <a:srgbClr val="69695F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trike="noStrike" dirty="0" err="1">
                <a:solidFill>
                  <a:srgbClr val="69695F"/>
                </a:solidFill>
                <a:effectLst/>
                <a:uFillTx/>
                <a:latin typeface="Arial"/>
              </a:rPr>
              <a:t>Lihat</a:t>
            </a:r>
            <a:r>
              <a:rPr lang="en-US" sz="1250" b="0" u="none" strike="noStrike" dirty="0">
                <a:solidFill>
                  <a:srgbClr val="69695F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trike="noStrike" dirty="0" err="1">
                <a:solidFill>
                  <a:srgbClr val="69695F"/>
                </a:solidFill>
                <a:effectLst/>
                <a:uFillTx/>
                <a:latin typeface="Arial"/>
              </a:rPr>
              <a:t>Produk</a:t>
            </a:r>
            <a:r>
              <a:rPr lang="en-US" sz="1250" b="0" u="none" strike="noStrike" dirty="0">
                <a:solidFill>
                  <a:srgbClr val="69695F"/>
                </a:solidFill>
                <a:effectLst/>
                <a:uFillTx/>
                <a:latin typeface="Arial"/>
              </a:rPr>
              <a:t>.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Rounded Rectangle 9"/>
          <p:cNvSpPr/>
          <p:nvPr/>
        </p:nvSpPr>
        <p:spPr>
          <a:xfrm>
            <a:off x="6095700" y="2365546"/>
            <a:ext cx="3337200" cy="1142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FAE59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TextBox 10"/>
          <p:cNvSpPr/>
          <p:nvPr/>
        </p:nvSpPr>
        <p:spPr>
          <a:xfrm>
            <a:off x="6163890" y="2441520"/>
            <a:ext cx="29347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 dirty="0" err="1">
                <a:solidFill>
                  <a:srgbClr val="5C4830"/>
                </a:solidFill>
                <a:effectLst/>
                <a:uFillTx/>
                <a:latin typeface="Georgia"/>
              </a:rPr>
              <a:t>Produk</a:t>
            </a:r>
            <a:r>
              <a:rPr lang="en-US" sz="1600" b="1" u="none" strike="noStrike" dirty="0">
                <a:solidFill>
                  <a:srgbClr val="5C4830"/>
                </a:solidFill>
                <a:effectLst/>
                <a:uFillTx/>
                <a:latin typeface="Georgia"/>
              </a:rPr>
              <a:t> </a:t>
            </a:r>
            <a:r>
              <a:rPr lang="en-US" sz="1600" b="1" u="none" strike="noStrike" dirty="0" err="1">
                <a:solidFill>
                  <a:srgbClr val="5C4830"/>
                </a:solidFill>
                <a:effectLst/>
                <a:uFillTx/>
                <a:latin typeface="Georgia"/>
              </a:rPr>
              <a:t>Unggulan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11"/>
          <p:cNvSpPr/>
          <p:nvPr/>
        </p:nvSpPr>
        <p:spPr>
          <a:xfrm>
            <a:off x="6163890" y="2915536"/>
            <a:ext cx="293472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u="none" strike="noStrike" dirty="0" err="1">
                <a:solidFill>
                  <a:srgbClr val="69695F"/>
                </a:solidFill>
                <a:effectLst/>
                <a:uFillTx/>
                <a:latin typeface="Arial"/>
              </a:rPr>
              <a:t>Tiga</a:t>
            </a:r>
            <a:r>
              <a:rPr lang="en-US" sz="1250" b="0" u="none" strike="noStrike" dirty="0">
                <a:solidFill>
                  <a:srgbClr val="69695F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trike="noStrike" dirty="0" err="1">
                <a:solidFill>
                  <a:srgbClr val="69695F"/>
                </a:solidFill>
                <a:effectLst/>
                <a:uFillTx/>
                <a:latin typeface="Arial"/>
              </a:rPr>
              <a:t>produk</a:t>
            </a:r>
            <a:r>
              <a:rPr lang="en-US" sz="1250" b="0" u="none" strike="noStrike" dirty="0">
                <a:solidFill>
                  <a:srgbClr val="69695F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trike="noStrike" dirty="0" err="1">
                <a:solidFill>
                  <a:srgbClr val="69695F"/>
                </a:solidFill>
                <a:effectLst/>
                <a:uFillTx/>
                <a:latin typeface="Arial"/>
              </a:rPr>
              <a:t>ditampilkan</a:t>
            </a:r>
            <a:r>
              <a:rPr lang="en-US" sz="1250" b="0" u="none" strike="noStrike" dirty="0">
                <a:solidFill>
                  <a:srgbClr val="69695F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trike="noStrike" dirty="0" err="1">
                <a:solidFill>
                  <a:srgbClr val="69695F"/>
                </a:solidFill>
                <a:effectLst/>
                <a:uFillTx/>
                <a:latin typeface="Arial"/>
              </a:rPr>
              <a:t>sebagai</a:t>
            </a:r>
            <a:r>
              <a:rPr lang="en-US" sz="1250" b="0" u="none" strike="noStrike" dirty="0">
                <a:solidFill>
                  <a:srgbClr val="69695F"/>
                </a:solidFill>
                <a:effectLst/>
                <a:uFillTx/>
                <a:latin typeface="Arial"/>
              </a:rPr>
              <a:t> highlight.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Rounded Rectangle 12"/>
          <p:cNvSpPr/>
          <p:nvPr/>
        </p:nvSpPr>
        <p:spPr>
          <a:xfrm>
            <a:off x="6095700" y="4009320"/>
            <a:ext cx="3337200" cy="1142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FAE59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Box 13"/>
          <p:cNvSpPr/>
          <p:nvPr/>
        </p:nvSpPr>
        <p:spPr>
          <a:xfrm>
            <a:off x="6095700" y="4156553"/>
            <a:ext cx="29347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 dirty="0">
                <a:solidFill>
                  <a:srgbClr val="5C4830"/>
                </a:solidFill>
                <a:effectLst/>
                <a:uFillTx/>
                <a:latin typeface="Georgia"/>
              </a:rPr>
              <a:t>Lokasi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14"/>
          <p:cNvSpPr/>
          <p:nvPr/>
        </p:nvSpPr>
        <p:spPr>
          <a:xfrm>
            <a:off x="6163890" y="4578143"/>
            <a:ext cx="293472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u="none" strike="noStrike" dirty="0">
                <a:solidFill>
                  <a:srgbClr val="69695F"/>
                </a:solidFill>
                <a:effectLst/>
                <a:uFillTx/>
                <a:latin typeface="Arial"/>
              </a:rPr>
              <a:t>Area </a:t>
            </a:r>
            <a:r>
              <a:rPr lang="en-US" sz="1250" b="0" u="none" strike="noStrike" dirty="0" err="1">
                <a:solidFill>
                  <a:srgbClr val="69695F"/>
                </a:solidFill>
                <a:effectLst/>
                <a:uFillTx/>
                <a:latin typeface="Arial"/>
              </a:rPr>
              <a:t>lokasi</a:t>
            </a:r>
            <a:r>
              <a:rPr lang="en-US" sz="1250" b="0" u="none" strike="noStrike" dirty="0">
                <a:solidFill>
                  <a:srgbClr val="69695F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trike="noStrike" dirty="0" err="1">
                <a:solidFill>
                  <a:srgbClr val="69695F"/>
                </a:solidFill>
                <a:effectLst/>
                <a:uFillTx/>
                <a:latin typeface="Arial"/>
              </a:rPr>
              <a:t>ditampilkan</a:t>
            </a:r>
            <a:r>
              <a:rPr lang="en-US" sz="1250" b="0" u="none" strike="noStrike" dirty="0">
                <a:solidFill>
                  <a:srgbClr val="69695F"/>
                </a:solidFill>
                <a:effectLst/>
                <a:uFillTx/>
                <a:latin typeface="Arial"/>
              </a:rPr>
              <a:t> pada </a:t>
            </a:r>
            <a:r>
              <a:rPr lang="en-US" sz="1250" b="0" u="none" strike="noStrike" dirty="0" err="1">
                <a:solidFill>
                  <a:srgbClr val="69695F"/>
                </a:solidFill>
                <a:effectLst/>
                <a:uFillTx/>
                <a:latin typeface="Arial"/>
              </a:rPr>
              <a:t>bagian</a:t>
            </a:r>
            <a:r>
              <a:rPr lang="en-US" sz="1250" b="0" u="none" strike="noStrike" dirty="0">
                <a:solidFill>
                  <a:srgbClr val="69695F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trike="noStrike" dirty="0" err="1">
                <a:solidFill>
                  <a:srgbClr val="69695F"/>
                </a:solidFill>
                <a:effectLst/>
                <a:uFillTx/>
                <a:latin typeface="Arial"/>
              </a:rPr>
              <a:t>bawah</a:t>
            </a:r>
            <a:r>
              <a:rPr lang="en-US" sz="1250" b="0" u="none" strike="noStrike" dirty="0">
                <a:solidFill>
                  <a:srgbClr val="69695F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trike="noStrike" dirty="0" err="1">
                <a:solidFill>
                  <a:srgbClr val="69695F"/>
                </a:solidFill>
                <a:effectLst/>
                <a:uFillTx/>
                <a:latin typeface="Arial"/>
              </a:rPr>
              <a:t>halaman</a:t>
            </a:r>
            <a:r>
              <a:rPr lang="en-US" sz="1250" b="0" u="none" strike="noStrike" dirty="0">
                <a:solidFill>
                  <a:srgbClr val="69695F"/>
                </a:solidFill>
                <a:effectLst/>
                <a:uFillTx/>
                <a:latin typeface="Arial"/>
              </a:rPr>
              <a:t>.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15"/>
          <p:cNvSpPr/>
          <p:nvPr/>
        </p:nvSpPr>
        <p:spPr>
          <a:xfrm>
            <a:off x="6095700" y="5469503"/>
            <a:ext cx="32457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u="none" strike="noStrike" dirty="0" err="1">
                <a:solidFill>
                  <a:srgbClr val="69695F"/>
                </a:solidFill>
                <a:effectLst/>
                <a:uFillTx/>
                <a:latin typeface="Arial"/>
              </a:rPr>
              <a:t>Catatan</a:t>
            </a:r>
            <a:r>
              <a:rPr lang="en-US" sz="1050" b="0" u="none" strike="noStrike" dirty="0">
                <a:solidFill>
                  <a:srgbClr val="69695F"/>
                </a:solidFill>
                <a:effectLst/>
                <a:uFillTx/>
                <a:latin typeface="Arial"/>
              </a:rPr>
              <a:t>: </a:t>
            </a:r>
            <a:r>
              <a:rPr lang="en-US" sz="1050" b="0" u="none" strike="noStrike" dirty="0" err="1">
                <a:solidFill>
                  <a:srgbClr val="69695F"/>
                </a:solidFill>
                <a:effectLst/>
                <a:uFillTx/>
                <a:latin typeface="Arial"/>
              </a:rPr>
              <a:t>implementasi</a:t>
            </a:r>
            <a:r>
              <a:rPr lang="en-US" sz="1050" b="0" u="none" strike="noStrike" dirty="0">
                <a:solidFill>
                  <a:srgbClr val="69695F"/>
                </a:solidFill>
                <a:effectLst/>
                <a:uFillTx/>
                <a:latin typeface="Arial"/>
              </a:rPr>
              <a:t> </a:t>
            </a:r>
            <a:r>
              <a:rPr lang="en-US" sz="1050" b="0" u="none" strike="noStrike" dirty="0" err="1">
                <a:solidFill>
                  <a:srgbClr val="69695F"/>
                </a:solidFill>
                <a:effectLst/>
                <a:uFillTx/>
                <a:latin typeface="Arial"/>
              </a:rPr>
              <a:t>masih</a:t>
            </a:r>
            <a:r>
              <a:rPr lang="en-US" sz="1050" b="0" u="none" strike="noStrike" dirty="0">
                <a:solidFill>
                  <a:srgbClr val="69695F"/>
                </a:solidFill>
                <a:effectLst/>
                <a:uFillTx/>
                <a:latin typeface="Arial"/>
              </a:rPr>
              <a:t> </a:t>
            </a:r>
            <a:r>
              <a:rPr lang="en-US" sz="1050" b="0" u="none" strike="noStrike" dirty="0" err="1">
                <a:solidFill>
                  <a:srgbClr val="69695F"/>
                </a:solidFill>
                <a:effectLst/>
                <a:uFillTx/>
                <a:latin typeface="Arial"/>
              </a:rPr>
              <a:t>dalam</a:t>
            </a:r>
            <a:r>
              <a:rPr lang="en-US" sz="1050" b="0" u="none" strike="noStrike" dirty="0">
                <a:solidFill>
                  <a:srgbClr val="69695F"/>
                </a:solidFill>
                <a:effectLst/>
                <a:uFillTx/>
                <a:latin typeface="Arial"/>
              </a:rPr>
              <a:t> </a:t>
            </a:r>
            <a:r>
              <a:rPr lang="en-US" sz="1050" b="0" u="none" strike="noStrike" dirty="0" err="1">
                <a:solidFill>
                  <a:srgbClr val="69695F"/>
                </a:solidFill>
                <a:effectLst/>
                <a:uFillTx/>
                <a:latin typeface="Arial"/>
              </a:rPr>
              <a:t>tahap</a:t>
            </a:r>
            <a:r>
              <a:rPr lang="en-US" sz="1050" b="0" u="none" strike="noStrike" dirty="0">
                <a:solidFill>
                  <a:srgbClr val="69695F"/>
                </a:solidFill>
                <a:effectLst/>
                <a:uFillTx/>
                <a:latin typeface="Arial"/>
              </a:rPr>
              <a:t> </a:t>
            </a:r>
            <a:r>
              <a:rPr lang="en-US" sz="1050" b="0" u="none" strike="noStrike" dirty="0" err="1">
                <a:solidFill>
                  <a:srgbClr val="69695F"/>
                </a:solidFill>
                <a:effectLst/>
                <a:uFillTx/>
                <a:latin typeface="Arial"/>
              </a:rPr>
              <a:t>pengembangan</a:t>
            </a:r>
            <a:r>
              <a:rPr lang="en-US" sz="1050" b="0" u="none" strike="noStrike" dirty="0">
                <a:solidFill>
                  <a:srgbClr val="69695F"/>
                </a:solidFill>
                <a:effectLst/>
                <a:uFillTx/>
                <a:latin typeface="Arial"/>
              </a:rPr>
              <a:t>; </a:t>
            </a:r>
            <a:r>
              <a:rPr lang="en-US" sz="1050" b="0" u="none" strike="noStrike" dirty="0" err="1">
                <a:solidFill>
                  <a:srgbClr val="69695F"/>
                </a:solidFill>
                <a:effectLst/>
                <a:uFillTx/>
                <a:latin typeface="Arial"/>
              </a:rPr>
              <a:t>beberapa</a:t>
            </a:r>
            <a:r>
              <a:rPr lang="en-US" sz="1050" b="0" u="none" strike="noStrike" dirty="0">
                <a:solidFill>
                  <a:srgbClr val="69695F"/>
                </a:solidFill>
                <a:effectLst/>
                <a:uFillTx/>
                <a:latin typeface="Arial"/>
              </a:rPr>
              <a:t> </a:t>
            </a:r>
            <a:r>
              <a:rPr lang="en-US" sz="1050" b="0" u="none" strike="noStrike" dirty="0" err="1">
                <a:solidFill>
                  <a:srgbClr val="69695F"/>
                </a:solidFill>
                <a:effectLst/>
                <a:uFillTx/>
                <a:latin typeface="Arial"/>
              </a:rPr>
              <a:t>gambar</a:t>
            </a:r>
            <a:r>
              <a:rPr lang="en-US" sz="1050" b="0" u="none" strike="noStrike" dirty="0">
                <a:solidFill>
                  <a:srgbClr val="69695F"/>
                </a:solidFill>
                <a:effectLst/>
                <a:uFillTx/>
                <a:latin typeface="Arial"/>
              </a:rPr>
              <a:t> pada screenshot </a:t>
            </a:r>
            <a:r>
              <a:rPr lang="en-US" sz="1050" b="0" u="none" strike="noStrike" dirty="0" err="1">
                <a:solidFill>
                  <a:srgbClr val="69695F"/>
                </a:solidFill>
                <a:effectLst/>
                <a:uFillTx/>
                <a:latin typeface="Arial"/>
              </a:rPr>
              <a:t>belum</a:t>
            </a:r>
            <a:r>
              <a:rPr lang="en-US" sz="1050" b="0" u="none" strike="noStrike" dirty="0">
                <a:solidFill>
                  <a:srgbClr val="69695F"/>
                </a:solidFill>
                <a:effectLst/>
                <a:uFillTx/>
                <a:latin typeface="Arial"/>
              </a:rPr>
              <a:t> </a:t>
            </a:r>
            <a:r>
              <a:rPr lang="en-US" sz="1050" b="0" u="none" strike="noStrike" dirty="0" err="1">
                <a:solidFill>
                  <a:srgbClr val="69695F"/>
                </a:solidFill>
                <a:effectLst/>
                <a:uFillTx/>
                <a:latin typeface="Arial"/>
              </a:rPr>
              <a:t>termuat</a:t>
            </a:r>
            <a:r>
              <a:rPr lang="en-US" sz="1050" b="0" u="none" strike="noStrike" dirty="0">
                <a:solidFill>
                  <a:srgbClr val="69695F"/>
                </a:solidFill>
                <a:effectLst/>
                <a:uFillTx/>
                <a:latin typeface="Arial"/>
              </a:rPr>
              <a:t>.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16"/>
          <p:cNvSpPr/>
          <p:nvPr/>
        </p:nvSpPr>
        <p:spPr>
          <a:xfrm>
            <a:off x="594360" y="6510600"/>
            <a:ext cx="86864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Pemrograman Interface • UMKM Ayam Grobok Bang Jarwo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0B9B70-C5B6-48C5-9567-30B967D331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8" t="7999" r="3706" b="5066"/>
          <a:stretch/>
        </p:blipFill>
        <p:spPr>
          <a:xfrm>
            <a:off x="1963622" y="937170"/>
            <a:ext cx="3358754" cy="54255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Rectangle 1"/>
          <p:cNvSpPr/>
          <p:nvPr/>
        </p:nvSpPr>
        <p:spPr>
          <a:xfrm>
            <a:off x="0" y="0"/>
            <a:ext cx="12191400" cy="164160"/>
          </a:xfrm>
          <a:prstGeom prst="rect">
            <a:avLst/>
          </a:prstGeom>
          <a:solidFill>
            <a:srgbClr val="F1D55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TextBox 2"/>
          <p:cNvSpPr/>
          <p:nvPr/>
        </p:nvSpPr>
        <p:spPr>
          <a:xfrm>
            <a:off x="594360" y="384120"/>
            <a:ext cx="98751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23231E"/>
                </a:solidFill>
                <a:effectLst/>
                <a:uFillTx/>
                <a:latin typeface="Georgia"/>
              </a:rPr>
              <a:t>Rancangan — Halaman Daftar Produk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3"/>
          <p:cNvSpPr/>
          <p:nvPr/>
        </p:nvSpPr>
        <p:spPr>
          <a:xfrm>
            <a:off x="11109960" y="411480"/>
            <a:ext cx="456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C4830"/>
                </a:solidFill>
                <a:effectLst/>
                <a:uFillTx/>
                <a:latin typeface="Arial"/>
              </a:rPr>
              <a:t>08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ectangle 5"/>
          <p:cNvSpPr/>
          <p:nvPr/>
        </p:nvSpPr>
        <p:spPr>
          <a:xfrm>
            <a:off x="685800" y="1234440"/>
            <a:ext cx="6491880" cy="4891680"/>
          </a:xfrm>
          <a:prstGeom prst="rect">
            <a:avLst/>
          </a:prstGeom>
          <a:noFill/>
          <a:ln w="15240">
            <a:solidFill>
              <a:srgbClr val="FAE59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TextBox 6"/>
          <p:cNvSpPr/>
          <p:nvPr/>
        </p:nvSpPr>
        <p:spPr>
          <a:xfrm>
            <a:off x="7635240" y="132588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5C4830"/>
                </a:solidFill>
                <a:effectLst/>
                <a:uFillTx/>
                <a:latin typeface="Georgia"/>
              </a:rPr>
              <a:t>Struktur data yang direncanakan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7"/>
          <p:cNvSpPr/>
          <p:nvPr/>
        </p:nvSpPr>
        <p:spPr>
          <a:xfrm>
            <a:off x="7635240" y="1874520"/>
            <a:ext cx="3657240" cy="219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600" b="0" u="none" strike="noStrike">
                <a:solidFill>
                  <a:srgbClr val="23231E"/>
                </a:solidFill>
                <a:effectLst/>
                <a:uFillTx/>
                <a:latin typeface="Arial"/>
              </a:rPr>
              <a:t>• ID produk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600" b="0" u="none" strike="noStrike">
                <a:solidFill>
                  <a:srgbClr val="23231E"/>
                </a:solidFill>
                <a:effectLst/>
                <a:uFillTx/>
                <a:latin typeface="Arial"/>
              </a:rPr>
              <a:t>• Nama produk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600" b="0" u="none" strike="noStrike">
                <a:solidFill>
                  <a:srgbClr val="23231E"/>
                </a:solidFill>
                <a:effectLst/>
                <a:uFillTx/>
                <a:latin typeface="Arial"/>
              </a:rPr>
              <a:t>• Harga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600" b="0" u="none" strike="noStrike">
                <a:solidFill>
                  <a:srgbClr val="23231E"/>
                </a:solidFill>
                <a:effectLst/>
                <a:uFillTx/>
                <a:latin typeface="Arial"/>
              </a:rPr>
              <a:t>• Stok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600" b="0" u="none" strike="noStrike">
                <a:solidFill>
                  <a:srgbClr val="23231E"/>
                </a:solidFill>
                <a:effectLst/>
                <a:uFillTx/>
                <a:latin typeface="Arial"/>
              </a:rPr>
              <a:t>• Gambar produk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8"/>
          <p:cNvSpPr/>
          <p:nvPr/>
        </p:nvSpPr>
        <p:spPr>
          <a:xfrm>
            <a:off x="7635240" y="4480560"/>
            <a:ext cx="36572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Tabel membantu pengguna melihat informasi produk secara ringkas dan terstruktur.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9"/>
          <p:cNvSpPr/>
          <p:nvPr/>
        </p:nvSpPr>
        <p:spPr>
          <a:xfrm>
            <a:off x="594360" y="6510600"/>
            <a:ext cx="86864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Pemrograman Interface • UMKM Ayam Grobok Bang Jarwo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Rectangle 1"/>
          <p:cNvSpPr/>
          <p:nvPr/>
        </p:nvSpPr>
        <p:spPr>
          <a:xfrm>
            <a:off x="0" y="0"/>
            <a:ext cx="12191400" cy="164160"/>
          </a:xfrm>
          <a:prstGeom prst="rect">
            <a:avLst/>
          </a:prstGeom>
          <a:solidFill>
            <a:srgbClr val="F1D55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TextBox 2"/>
          <p:cNvSpPr/>
          <p:nvPr/>
        </p:nvSpPr>
        <p:spPr>
          <a:xfrm>
            <a:off x="594360" y="384120"/>
            <a:ext cx="98751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23231E"/>
                </a:solidFill>
                <a:effectLst/>
                <a:uFillTx/>
                <a:latin typeface="Georgia"/>
              </a:rPr>
              <a:t>Rancangan — Form Pemesanan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3"/>
          <p:cNvSpPr/>
          <p:nvPr/>
        </p:nvSpPr>
        <p:spPr>
          <a:xfrm>
            <a:off x="11109960" y="411480"/>
            <a:ext cx="456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C4830"/>
                </a:solidFill>
                <a:effectLst/>
                <a:uFillTx/>
                <a:latin typeface="Arial"/>
              </a:rPr>
              <a:t>09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Rectangle 5"/>
          <p:cNvSpPr/>
          <p:nvPr/>
        </p:nvSpPr>
        <p:spPr>
          <a:xfrm>
            <a:off x="685800" y="1234440"/>
            <a:ext cx="6491880" cy="4891680"/>
          </a:xfrm>
          <a:prstGeom prst="rect">
            <a:avLst/>
          </a:prstGeom>
          <a:noFill/>
          <a:ln w="15240">
            <a:solidFill>
              <a:srgbClr val="FAE59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TextBox 6"/>
          <p:cNvSpPr/>
          <p:nvPr/>
        </p:nvSpPr>
        <p:spPr>
          <a:xfrm>
            <a:off x="7635240" y="132588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5C4830"/>
                </a:solidFill>
                <a:effectLst/>
                <a:uFillTx/>
                <a:latin typeface="Georgia"/>
              </a:rPr>
              <a:t>Input yang direncanakan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7"/>
          <p:cNvSpPr/>
          <p:nvPr/>
        </p:nvSpPr>
        <p:spPr>
          <a:xfrm>
            <a:off x="7635240" y="1874520"/>
            <a:ext cx="3840120" cy="30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500" b="0" u="none" strike="noStrike">
                <a:solidFill>
                  <a:srgbClr val="23231E"/>
                </a:solidFill>
                <a:effectLst/>
                <a:uFillTx/>
                <a:latin typeface="Arial"/>
              </a:rPr>
              <a:t>• Nama dan nomor HP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500" b="0" u="none" strike="noStrike">
                <a:solidFill>
                  <a:srgbClr val="23231E"/>
                </a:solidFill>
                <a:effectLst/>
                <a:uFillTx/>
                <a:latin typeface="Arial"/>
              </a:rPr>
              <a:t>• Pilihan produk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500" b="0" u="none" strike="noStrike">
                <a:solidFill>
                  <a:srgbClr val="23231E"/>
                </a:solidFill>
                <a:effectLst/>
                <a:uFillTx/>
                <a:latin typeface="Arial"/>
              </a:rPr>
              <a:t>• Jumlah pesanan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500" b="0" u="none" strike="noStrike">
                <a:solidFill>
                  <a:srgbClr val="23231E"/>
                </a:solidFill>
                <a:effectLst/>
                <a:uFillTx/>
                <a:latin typeface="Arial"/>
              </a:rPr>
              <a:t>• Catatan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500" b="0" u="none" strike="noStrike">
                <a:solidFill>
                  <a:srgbClr val="23231E"/>
                </a:solidFill>
                <a:effectLst/>
                <a:uFillTx/>
                <a:latin typeface="Arial"/>
              </a:rPr>
              <a:t>• Metode pembayaran: QRIS, Cash, Debit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500" b="0" u="none" strike="noStrike">
                <a:solidFill>
                  <a:srgbClr val="23231E"/>
                </a:solidFill>
                <a:effectLst/>
                <a:uFillTx/>
                <a:latin typeface="Arial"/>
              </a:rPr>
              <a:t>• Tombol Submit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8"/>
          <p:cNvSpPr/>
          <p:nvPr/>
        </p:nvSpPr>
        <p:spPr>
          <a:xfrm>
            <a:off x="7635240" y="5166360"/>
            <a:ext cx="36572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5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Form dirancang agar alur pemesanan dapat dilakukan dalam satu halaman.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9"/>
          <p:cNvSpPr/>
          <p:nvPr/>
        </p:nvSpPr>
        <p:spPr>
          <a:xfrm>
            <a:off x="594360" y="6510600"/>
            <a:ext cx="86864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Pemrograman Interface • UMKM Ayam Grobok Bang Jarwo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Rectangle 1"/>
          <p:cNvSpPr/>
          <p:nvPr/>
        </p:nvSpPr>
        <p:spPr>
          <a:xfrm>
            <a:off x="0" y="0"/>
            <a:ext cx="12191400" cy="164160"/>
          </a:xfrm>
          <a:prstGeom prst="rect">
            <a:avLst/>
          </a:prstGeom>
          <a:solidFill>
            <a:srgbClr val="F1D55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TextBox 2"/>
          <p:cNvSpPr/>
          <p:nvPr/>
        </p:nvSpPr>
        <p:spPr>
          <a:xfrm>
            <a:off x="594360" y="384120"/>
            <a:ext cx="98751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23231E"/>
                </a:solidFill>
                <a:effectLst/>
                <a:uFillTx/>
                <a:latin typeface="Georgia"/>
              </a:rPr>
              <a:t>Navigasi &amp; Dropdown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3"/>
          <p:cNvSpPr/>
          <p:nvPr/>
        </p:nvSpPr>
        <p:spPr>
          <a:xfrm>
            <a:off x="11109960" y="411480"/>
            <a:ext cx="456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C4830"/>
                </a:solidFill>
                <a:effectLst/>
                <a:uFillTx/>
                <a:latin typeface="Arial"/>
              </a:rPr>
              <a:t>10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4"/>
          <p:cNvSpPr/>
          <p:nvPr/>
        </p:nvSpPr>
        <p:spPr>
          <a:xfrm>
            <a:off x="731520" y="1051560"/>
            <a:ext cx="10698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5C4830"/>
                </a:solidFill>
                <a:effectLst/>
                <a:uFillTx/>
                <a:latin typeface="Georgia"/>
              </a:rPr>
              <a:t>Menu navigasi dibuat sederhana agar pengguna dapat berpindah halaman dengan cepat.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Rounded Rectangle 5"/>
          <p:cNvSpPr/>
          <p:nvPr/>
        </p:nvSpPr>
        <p:spPr>
          <a:xfrm>
            <a:off x="914400" y="1828800"/>
            <a:ext cx="10286640" cy="822600"/>
          </a:xfrm>
          <a:prstGeom prst="roundRect">
            <a:avLst>
              <a:gd name="adj" fmla="val 16667"/>
            </a:avLst>
          </a:prstGeom>
          <a:solidFill>
            <a:srgbClr val="FAE591"/>
          </a:solidFill>
          <a:ln>
            <a:solidFill>
              <a:srgbClr val="F1D55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6" name="TextBox 6"/>
          <p:cNvSpPr/>
          <p:nvPr/>
        </p:nvSpPr>
        <p:spPr>
          <a:xfrm>
            <a:off x="1234440" y="2112120"/>
            <a:ext cx="1554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5C4830"/>
                </a:solidFill>
                <a:effectLst/>
                <a:uFillTx/>
                <a:latin typeface="Arial"/>
              </a:rPr>
              <a:t>HOME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7"/>
          <p:cNvSpPr/>
          <p:nvPr/>
        </p:nvSpPr>
        <p:spPr>
          <a:xfrm>
            <a:off x="2743200" y="2112120"/>
            <a:ext cx="1554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5C4830"/>
                </a:solidFill>
                <a:effectLst/>
                <a:uFillTx/>
                <a:latin typeface="Arial"/>
              </a:rPr>
              <a:t>PRODUK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8"/>
          <p:cNvSpPr/>
          <p:nvPr/>
        </p:nvSpPr>
        <p:spPr>
          <a:xfrm>
            <a:off x="4617720" y="2112120"/>
            <a:ext cx="1554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5C4830"/>
                </a:solidFill>
                <a:effectLst/>
                <a:uFillTx/>
                <a:latin typeface="Arial"/>
              </a:rPr>
              <a:t>INFORMASI ▼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Rounded Rectangle 9"/>
          <p:cNvSpPr/>
          <p:nvPr/>
        </p:nvSpPr>
        <p:spPr>
          <a:xfrm>
            <a:off x="4297680" y="2651760"/>
            <a:ext cx="2742840" cy="1874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F1D55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0" name="TextBox 10"/>
          <p:cNvSpPr/>
          <p:nvPr/>
        </p:nvSpPr>
        <p:spPr>
          <a:xfrm>
            <a:off x="4617720" y="2971800"/>
            <a:ext cx="20113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3231E"/>
                </a:solidFill>
                <a:effectLst/>
                <a:uFillTx/>
                <a:latin typeface="Arial"/>
              </a:rPr>
              <a:t>Produk Unggulan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11"/>
          <p:cNvSpPr/>
          <p:nvPr/>
        </p:nvSpPr>
        <p:spPr>
          <a:xfrm>
            <a:off x="4617720" y="3410640"/>
            <a:ext cx="20113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3231E"/>
                </a:solidFill>
                <a:effectLst/>
                <a:uFillTx/>
                <a:latin typeface="Arial"/>
              </a:rPr>
              <a:t>Lokasi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12"/>
          <p:cNvSpPr/>
          <p:nvPr/>
        </p:nvSpPr>
        <p:spPr>
          <a:xfrm>
            <a:off x="4617720" y="3849480"/>
            <a:ext cx="20113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3231E"/>
                </a:solidFill>
                <a:effectLst/>
                <a:uFillTx/>
                <a:latin typeface="Arial"/>
              </a:rPr>
              <a:t>Pemesanan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13"/>
          <p:cNvSpPr/>
          <p:nvPr/>
        </p:nvSpPr>
        <p:spPr>
          <a:xfrm>
            <a:off x="7452360" y="2926080"/>
            <a:ext cx="301716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Dropdown INFORMASI berisi akses cepat menuju bagian Produk Unggulan, Lokasi, dan Pemesanan.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14"/>
          <p:cNvSpPr/>
          <p:nvPr/>
        </p:nvSpPr>
        <p:spPr>
          <a:xfrm>
            <a:off x="594360" y="6510600"/>
            <a:ext cx="86864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Pemrograman Interface • UMKM Ayam Grobok Bang Jarwo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Rectangle 1"/>
          <p:cNvSpPr/>
          <p:nvPr/>
        </p:nvSpPr>
        <p:spPr>
          <a:xfrm>
            <a:off x="0" y="0"/>
            <a:ext cx="12191400" cy="164160"/>
          </a:xfrm>
          <a:prstGeom prst="rect">
            <a:avLst/>
          </a:prstGeom>
          <a:solidFill>
            <a:srgbClr val="F1D55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3" name="TextBox 2"/>
          <p:cNvSpPr/>
          <p:nvPr/>
        </p:nvSpPr>
        <p:spPr>
          <a:xfrm>
            <a:off x="594360" y="384120"/>
            <a:ext cx="98751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23231E"/>
                </a:solidFill>
                <a:effectLst/>
                <a:uFillTx/>
                <a:latin typeface="Georgia"/>
              </a:rPr>
              <a:t>Responsive Design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3"/>
          <p:cNvSpPr/>
          <p:nvPr/>
        </p:nvSpPr>
        <p:spPr>
          <a:xfrm>
            <a:off x="11109960" y="411480"/>
            <a:ext cx="456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C4830"/>
                </a:solidFill>
                <a:effectLst/>
                <a:uFillTx/>
                <a:latin typeface="Arial"/>
              </a:rPr>
              <a:t>12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4"/>
          <p:cNvSpPr/>
          <p:nvPr/>
        </p:nvSpPr>
        <p:spPr>
          <a:xfrm>
            <a:off x="731520" y="1051560"/>
            <a:ext cx="10698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5C4830"/>
                </a:solidFill>
                <a:effectLst/>
                <a:uFillTx/>
                <a:latin typeface="Georgia"/>
              </a:rPr>
              <a:t>Website dirancang agar dapat menyesuaikan tampilan pada ukuran layar yang berbeda.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Rounded Rectangle 5"/>
          <p:cNvSpPr/>
          <p:nvPr/>
        </p:nvSpPr>
        <p:spPr>
          <a:xfrm>
            <a:off x="1188720" y="1874520"/>
            <a:ext cx="2640330" cy="3470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5C483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7" name="Rectangle 6"/>
          <p:cNvSpPr/>
          <p:nvPr/>
        </p:nvSpPr>
        <p:spPr>
          <a:xfrm>
            <a:off x="1086210" y="5555160"/>
            <a:ext cx="2742840" cy="411120"/>
          </a:xfrm>
          <a:prstGeom prst="rect">
            <a:avLst/>
          </a:prstGeom>
          <a:solidFill>
            <a:srgbClr val="F1D55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8" name="TextBox 7"/>
          <p:cNvSpPr/>
          <p:nvPr/>
        </p:nvSpPr>
        <p:spPr>
          <a:xfrm>
            <a:off x="1076505" y="561387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5C4830"/>
                </a:solidFill>
                <a:effectLst/>
                <a:uFillTx/>
                <a:latin typeface="Arial"/>
              </a:rPr>
              <a:t>Desktop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Box 8"/>
          <p:cNvSpPr/>
          <p:nvPr/>
        </p:nvSpPr>
        <p:spPr>
          <a:xfrm>
            <a:off x="1371600" y="2606040"/>
            <a:ext cx="2377080" cy="20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HOME  •  PRODUK</a:t>
            </a:r>
            <a:br>
              <a:rPr sz="1100"/>
            </a:br>
            <a:br>
              <a:rPr sz="1100"/>
            </a:br>
            <a:r>
              <a:rPr lang="en-US" sz="110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Produk Unggulan</a:t>
            </a:r>
            <a:br>
              <a:rPr sz="1100"/>
            </a:br>
            <a:br>
              <a:rPr sz="1100"/>
            </a:br>
            <a:r>
              <a:rPr lang="en-US" sz="110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[ Lihat Produk ]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Rounded Rectangle 9"/>
          <p:cNvSpPr/>
          <p:nvPr/>
        </p:nvSpPr>
        <p:spPr>
          <a:xfrm>
            <a:off x="4800600" y="1896570"/>
            <a:ext cx="1737000" cy="3561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5C483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1" name="Rectangle 10"/>
          <p:cNvSpPr/>
          <p:nvPr/>
        </p:nvSpPr>
        <p:spPr>
          <a:xfrm>
            <a:off x="4709160" y="5587200"/>
            <a:ext cx="1919880" cy="411120"/>
          </a:xfrm>
          <a:prstGeom prst="rect">
            <a:avLst/>
          </a:prstGeom>
          <a:solidFill>
            <a:srgbClr val="F1D55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 dirty="0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2" name="TextBox 11"/>
          <p:cNvSpPr/>
          <p:nvPr/>
        </p:nvSpPr>
        <p:spPr>
          <a:xfrm>
            <a:off x="4709160" y="564606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 dirty="0">
                <a:solidFill>
                  <a:srgbClr val="5C4830"/>
                </a:solidFill>
                <a:effectLst/>
                <a:uFillTx/>
                <a:latin typeface="Arial"/>
              </a:rPr>
              <a:t>Tablet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Box 12"/>
          <p:cNvSpPr/>
          <p:nvPr/>
        </p:nvSpPr>
        <p:spPr>
          <a:xfrm>
            <a:off x="4892040" y="2606040"/>
            <a:ext cx="1554120" cy="20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HOME  •  PRODUK</a:t>
            </a:r>
            <a:br>
              <a:rPr sz="1100"/>
            </a:br>
            <a:br>
              <a:rPr sz="1100"/>
            </a:br>
            <a:r>
              <a:rPr lang="en-US" sz="110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Produk Unggulan</a:t>
            </a:r>
            <a:br>
              <a:rPr sz="1100"/>
            </a:br>
            <a:br>
              <a:rPr sz="1100"/>
            </a:br>
            <a:r>
              <a:rPr lang="en-US" sz="110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[ Lihat Produk ]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Rounded Rectangle 13"/>
          <p:cNvSpPr/>
          <p:nvPr/>
        </p:nvSpPr>
        <p:spPr>
          <a:xfrm>
            <a:off x="7955280" y="2222400"/>
            <a:ext cx="1234080" cy="32080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5C483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5" name="Rectangle 14"/>
          <p:cNvSpPr/>
          <p:nvPr/>
        </p:nvSpPr>
        <p:spPr>
          <a:xfrm>
            <a:off x="7854135" y="5590875"/>
            <a:ext cx="1416960" cy="411120"/>
          </a:xfrm>
          <a:prstGeom prst="rect">
            <a:avLst/>
          </a:prstGeom>
          <a:solidFill>
            <a:srgbClr val="F1D55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6" name="TextBox 15"/>
          <p:cNvSpPr/>
          <p:nvPr/>
        </p:nvSpPr>
        <p:spPr>
          <a:xfrm>
            <a:off x="7863840" y="5653800"/>
            <a:ext cx="1416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 dirty="0">
                <a:solidFill>
                  <a:srgbClr val="5C4830"/>
                </a:solidFill>
                <a:effectLst/>
                <a:uFillTx/>
                <a:latin typeface="Arial"/>
              </a:rPr>
              <a:t>Mobile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Box 16"/>
          <p:cNvSpPr/>
          <p:nvPr/>
        </p:nvSpPr>
        <p:spPr>
          <a:xfrm>
            <a:off x="8001000" y="2606040"/>
            <a:ext cx="1051200" cy="20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00" b="0" u="none" strike="noStrike" dirty="0">
                <a:solidFill>
                  <a:srgbClr val="69695F"/>
                </a:solidFill>
                <a:effectLst/>
                <a:uFillTx/>
                <a:latin typeface="Arial"/>
              </a:rPr>
              <a:t>HOME  •  PRODUK</a:t>
            </a:r>
            <a:br>
              <a:rPr sz="1100" dirty="0"/>
            </a:br>
            <a:br>
              <a:rPr sz="1100" dirty="0"/>
            </a:br>
            <a:r>
              <a:rPr lang="en-US" sz="1100" b="0" u="none" strike="noStrike" dirty="0" err="1">
                <a:solidFill>
                  <a:srgbClr val="69695F"/>
                </a:solidFill>
                <a:effectLst/>
                <a:uFillTx/>
                <a:latin typeface="Arial"/>
              </a:rPr>
              <a:t>Produk</a:t>
            </a:r>
            <a:r>
              <a:rPr lang="en-US" sz="1100" b="0" u="none" strike="noStrike" dirty="0">
                <a:solidFill>
                  <a:srgbClr val="69695F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trike="noStrike" dirty="0" err="1">
                <a:solidFill>
                  <a:srgbClr val="69695F"/>
                </a:solidFill>
                <a:effectLst/>
                <a:uFillTx/>
                <a:latin typeface="Arial"/>
              </a:rPr>
              <a:t>Unggulan</a:t>
            </a:r>
            <a:br>
              <a:rPr sz="1100" dirty="0"/>
            </a:br>
            <a:br>
              <a:rPr sz="1100" dirty="0"/>
            </a:br>
            <a:r>
              <a:rPr lang="en-US" sz="1100" b="0" u="none" strike="noStrike" dirty="0">
                <a:solidFill>
                  <a:srgbClr val="69695F"/>
                </a:solidFill>
                <a:effectLst/>
                <a:uFillTx/>
                <a:latin typeface="Arial"/>
              </a:rPr>
              <a:t>[ </a:t>
            </a:r>
            <a:r>
              <a:rPr lang="en-US" sz="1100" b="0" u="none" strike="noStrike" dirty="0" err="1">
                <a:solidFill>
                  <a:srgbClr val="69695F"/>
                </a:solidFill>
                <a:effectLst/>
                <a:uFillTx/>
                <a:latin typeface="Arial"/>
              </a:rPr>
              <a:t>Lihat</a:t>
            </a:r>
            <a:r>
              <a:rPr lang="en-US" sz="1100" b="0" u="none" strike="noStrike" dirty="0">
                <a:solidFill>
                  <a:srgbClr val="69695F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trike="noStrike" dirty="0" err="1">
                <a:solidFill>
                  <a:srgbClr val="69695F"/>
                </a:solidFill>
                <a:effectLst/>
                <a:uFillTx/>
                <a:latin typeface="Arial"/>
              </a:rPr>
              <a:t>Produk</a:t>
            </a:r>
            <a:r>
              <a:rPr lang="en-US" sz="1100" b="0" u="none" strike="noStrike" dirty="0">
                <a:solidFill>
                  <a:srgbClr val="69695F"/>
                </a:solidFill>
                <a:effectLst/>
                <a:uFillTx/>
                <a:latin typeface="Arial"/>
              </a:rPr>
              <a:t> ]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18"/>
          <p:cNvSpPr/>
          <p:nvPr/>
        </p:nvSpPr>
        <p:spPr>
          <a:xfrm>
            <a:off x="594360" y="6510600"/>
            <a:ext cx="86864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Pemrograman Interface • UMKM Ayam Grobok Bang Jarwo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Rectangle 1"/>
          <p:cNvSpPr/>
          <p:nvPr/>
        </p:nvSpPr>
        <p:spPr>
          <a:xfrm>
            <a:off x="0" y="0"/>
            <a:ext cx="12191400" cy="164160"/>
          </a:xfrm>
          <a:prstGeom prst="rect">
            <a:avLst/>
          </a:prstGeom>
          <a:solidFill>
            <a:srgbClr val="F1D55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1" name="TextBox 2"/>
          <p:cNvSpPr/>
          <p:nvPr/>
        </p:nvSpPr>
        <p:spPr>
          <a:xfrm>
            <a:off x="594360" y="384120"/>
            <a:ext cx="98751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23231E"/>
                </a:solidFill>
                <a:effectLst/>
                <a:uFillTx/>
                <a:latin typeface="Georgia"/>
              </a:rPr>
              <a:t>Teknologi &amp; Implementasi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3"/>
          <p:cNvSpPr/>
          <p:nvPr/>
        </p:nvSpPr>
        <p:spPr>
          <a:xfrm>
            <a:off x="11109960" y="411480"/>
            <a:ext cx="456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C4830"/>
                </a:solidFill>
                <a:effectLst/>
                <a:uFillTx/>
                <a:latin typeface="Arial"/>
              </a:rPr>
              <a:t>13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Rounded Rectangle 4"/>
          <p:cNvSpPr/>
          <p:nvPr/>
        </p:nvSpPr>
        <p:spPr>
          <a:xfrm>
            <a:off x="822960" y="1325880"/>
            <a:ext cx="5074560" cy="1142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FAE59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4" name="TextBox 5"/>
          <p:cNvSpPr/>
          <p:nvPr/>
        </p:nvSpPr>
        <p:spPr>
          <a:xfrm>
            <a:off x="1024200" y="1490400"/>
            <a:ext cx="46720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5C4830"/>
                </a:solidFill>
                <a:effectLst/>
                <a:uFillTx/>
                <a:latin typeface="Georgia"/>
              </a:rPr>
              <a:t>HTML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Box 6"/>
          <p:cNvSpPr/>
          <p:nvPr/>
        </p:nvSpPr>
        <p:spPr>
          <a:xfrm>
            <a:off x="1024200" y="1892880"/>
            <a:ext cx="467208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Membangun struktur dan isi setiap halaman.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Rounded Rectangle 7"/>
          <p:cNvSpPr/>
          <p:nvPr/>
        </p:nvSpPr>
        <p:spPr>
          <a:xfrm>
            <a:off x="6400800" y="1325880"/>
            <a:ext cx="5074560" cy="1142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FAE59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7" name="TextBox 8"/>
          <p:cNvSpPr/>
          <p:nvPr/>
        </p:nvSpPr>
        <p:spPr>
          <a:xfrm>
            <a:off x="6602040" y="1490400"/>
            <a:ext cx="46720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5C4830"/>
                </a:solidFill>
                <a:effectLst/>
                <a:uFillTx/>
                <a:latin typeface="Georgia"/>
              </a:rPr>
              <a:t>CSS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Box 9"/>
          <p:cNvSpPr/>
          <p:nvPr/>
        </p:nvSpPr>
        <p:spPr>
          <a:xfrm>
            <a:off x="6602040" y="1892880"/>
            <a:ext cx="467208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Mengatur layout, warna, typography, tombol, dan responsive design.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Rounded Rectangle 10"/>
          <p:cNvSpPr/>
          <p:nvPr/>
        </p:nvSpPr>
        <p:spPr>
          <a:xfrm>
            <a:off x="822960" y="2834640"/>
            <a:ext cx="5074560" cy="1142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FAE59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0" name="TextBox 11"/>
          <p:cNvSpPr/>
          <p:nvPr/>
        </p:nvSpPr>
        <p:spPr>
          <a:xfrm>
            <a:off x="1024200" y="2999160"/>
            <a:ext cx="46720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5C4830"/>
                </a:solidFill>
                <a:effectLst/>
                <a:uFillTx/>
                <a:latin typeface="Georgia"/>
              </a:rPr>
              <a:t>JavaScript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Box 12"/>
          <p:cNvSpPr/>
          <p:nvPr/>
        </p:nvSpPr>
        <p:spPr>
          <a:xfrm>
            <a:off x="1024200" y="3401640"/>
            <a:ext cx="467208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Digunakan untuk interaksi jika diperlukan pada implementasi.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Rounded Rectangle 13"/>
          <p:cNvSpPr/>
          <p:nvPr/>
        </p:nvSpPr>
        <p:spPr>
          <a:xfrm>
            <a:off x="6400800" y="2834640"/>
            <a:ext cx="5074560" cy="1142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FAE59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3" name="TextBox 14"/>
          <p:cNvSpPr/>
          <p:nvPr/>
        </p:nvSpPr>
        <p:spPr>
          <a:xfrm>
            <a:off x="6602040" y="2999160"/>
            <a:ext cx="46720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5C4830"/>
                </a:solidFill>
                <a:effectLst/>
                <a:uFillTx/>
                <a:latin typeface="Georgia"/>
              </a:rPr>
              <a:t>VS Code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Box 15"/>
          <p:cNvSpPr/>
          <p:nvPr/>
        </p:nvSpPr>
        <p:spPr>
          <a:xfrm>
            <a:off x="6602040" y="3401640"/>
            <a:ext cx="467208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Lingkungan pengembangan website.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Rounded Rectangle 16"/>
          <p:cNvSpPr/>
          <p:nvPr/>
        </p:nvSpPr>
        <p:spPr>
          <a:xfrm>
            <a:off x="822960" y="4343400"/>
            <a:ext cx="5074560" cy="1142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FAE59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6" name="TextBox 17"/>
          <p:cNvSpPr/>
          <p:nvPr/>
        </p:nvSpPr>
        <p:spPr>
          <a:xfrm>
            <a:off x="1024200" y="4507920"/>
            <a:ext cx="46720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5C4830"/>
                </a:solidFill>
                <a:effectLst/>
                <a:uFillTx/>
                <a:latin typeface="Georgia"/>
              </a:rPr>
              <a:t>GitHub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Box 18"/>
          <p:cNvSpPr/>
          <p:nvPr/>
        </p:nvSpPr>
        <p:spPr>
          <a:xfrm>
            <a:off x="1024200" y="4910400"/>
            <a:ext cx="467208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Kolaborasi, penyimpanan repository, dan pengelolaan perubahan kode.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Box 19"/>
          <p:cNvSpPr/>
          <p:nvPr/>
        </p:nvSpPr>
        <p:spPr>
          <a:xfrm>
            <a:off x="914400" y="5715000"/>
            <a:ext cx="101494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5C4830"/>
                </a:solidFill>
                <a:effectLst/>
                <a:uFillTx/>
                <a:latin typeface="Arial"/>
              </a:rPr>
              <a:t>Workflow kolaborasi: pull perubahan terbaru → coding → commit → push ke repository.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Box 20"/>
          <p:cNvSpPr/>
          <p:nvPr/>
        </p:nvSpPr>
        <p:spPr>
          <a:xfrm>
            <a:off x="594360" y="6510600"/>
            <a:ext cx="86864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Pemrograman Interface • UMKM Ayam Grobok Bang Jarwo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Rectangle 1"/>
          <p:cNvSpPr/>
          <p:nvPr/>
        </p:nvSpPr>
        <p:spPr>
          <a:xfrm>
            <a:off x="0" y="0"/>
            <a:ext cx="12191400" cy="164160"/>
          </a:xfrm>
          <a:prstGeom prst="rect">
            <a:avLst/>
          </a:prstGeom>
          <a:solidFill>
            <a:srgbClr val="F1D55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1" name="TextBox 2"/>
          <p:cNvSpPr/>
          <p:nvPr/>
        </p:nvSpPr>
        <p:spPr>
          <a:xfrm>
            <a:off x="594360" y="384120"/>
            <a:ext cx="98751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23231E"/>
                </a:solidFill>
                <a:effectLst/>
                <a:uFillTx/>
                <a:latin typeface="Georgia"/>
              </a:rPr>
              <a:t>Status Pengembangan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Box 3"/>
          <p:cNvSpPr/>
          <p:nvPr/>
        </p:nvSpPr>
        <p:spPr>
          <a:xfrm>
            <a:off x="11109960" y="411480"/>
            <a:ext cx="456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C4830"/>
                </a:solidFill>
                <a:effectLst/>
                <a:uFillTx/>
                <a:latin typeface="Arial"/>
              </a:rPr>
              <a:t>14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Rounded Rectangle 4"/>
          <p:cNvSpPr/>
          <p:nvPr/>
        </p:nvSpPr>
        <p:spPr>
          <a:xfrm>
            <a:off x="777240" y="1371600"/>
            <a:ext cx="3382920" cy="3474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FAE59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4" name="TextBox 5"/>
          <p:cNvSpPr/>
          <p:nvPr/>
        </p:nvSpPr>
        <p:spPr>
          <a:xfrm>
            <a:off x="978480" y="1536120"/>
            <a:ext cx="29804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5C4830"/>
                </a:solidFill>
                <a:effectLst/>
                <a:uFillTx/>
                <a:latin typeface="Georgia"/>
              </a:rPr>
              <a:t>✓ Sudah Diimplementasikan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Box 6"/>
          <p:cNvSpPr/>
          <p:nvPr/>
        </p:nvSpPr>
        <p:spPr>
          <a:xfrm>
            <a:off x="978480" y="1938600"/>
            <a:ext cx="2980440" cy="276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Halaman beranda</a:t>
            </a:r>
            <a:br>
              <a:rPr sz="1250"/>
            </a:br>
            <a:br>
              <a:rPr sz="1250"/>
            </a:br>
            <a:r>
              <a:rPr lang="en-US" sz="125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• Navbar</a:t>
            </a:r>
            <a:br>
              <a:rPr sz="1250"/>
            </a:br>
            <a:r>
              <a:rPr lang="en-US" sz="125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• Deskripsi UMKM</a:t>
            </a:r>
            <a:br>
              <a:rPr sz="1250"/>
            </a:br>
            <a:r>
              <a:rPr lang="en-US" sz="125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• Produk unggulan</a:t>
            </a:r>
            <a:br>
              <a:rPr sz="1250"/>
            </a:br>
            <a:r>
              <a:rPr lang="en-US" sz="125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• Lokasi</a:t>
            </a:r>
            <a:br>
              <a:rPr sz="1250"/>
            </a:br>
            <a:r>
              <a:rPr lang="en-US" sz="125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• Tombol Lihat Produk</a:t>
            </a:r>
            <a:br>
              <a:rPr sz="1250"/>
            </a:br>
            <a:r>
              <a:rPr lang="en-US" sz="125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• Dropdown Informasi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Rounded Rectangle 7"/>
          <p:cNvSpPr/>
          <p:nvPr/>
        </p:nvSpPr>
        <p:spPr>
          <a:xfrm>
            <a:off x="4389120" y="1371600"/>
            <a:ext cx="3382920" cy="3474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FAE59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7" name="TextBox 8"/>
          <p:cNvSpPr/>
          <p:nvPr/>
        </p:nvSpPr>
        <p:spPr>
          <a:xfrm>
            <a:off x="4590360" y="1536120"/>
            <a:ext cx="29804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5C4830"/>
                </a:solidFill>
                <a:effectLst/>
                <a:uFillTx/>
                <a:latin typeface="Georgia"/>
              </a:rPr>
              <a:t>◐ Dalam Pengembangan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Box 9"/>
          <p:cNvSpPr/>
          <p:nvPr/>
        </p:nvSpPr>
        <p:spPr>
          <a:xfrm>
            <a:off x="4590360" y="1938600"/>
            <a:ext cx="2980440" cy="276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Halaman daftar produk</a:t>
            </a:r>
            <a:br>
              <a:rPr sz="1250"/>
            </a:br>
            <a:br>
              <a:rPr sz="1250"/>
            </a:br>
            <a:r>
              <a:rPr lang="en-US" sz="125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• Tabel produk</a:t>
            </a:r>
            <a:br>
              <a:rPr sz="1250"/>
            </a:br>
            <a:r>
              <a:rPr lang="en-US" sz="125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• Gambar produk</a:t>
            </a:r>
            <a:br>
              <a:rPr sz="1250"/>
            </a:br>
            <a:r>
              <a:rPr lang="en-US" sz="125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• Harga</a:t>
            </a:r>
            <a:br>
              <a:rPr sz="1250"/>
            </a:br>
            <a:r>
              <a:rPr lang="en-US" sz="125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• Stok</a:t>
            </a:r>
            <a:br>
              <a:rPr sz="1250"/>
            </a:br>
            <a:br>
              <a:rPr sz="1250"/>
            </a:br>
            <a:r>
              <a:rPr lang="en-US" sz="125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Mengacu pada wireframe.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Rounded Rectangle 10"/>
          <p:cNvSpPr/>
          <p:nvPr/>
        </p:nvSpPr>
        <p:spPr>
          <a:xfrm>
            <a:off x="8001000" y="1371600"/>
            <a:ext cx="3382920" cy="3474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FAE59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0" name="TextBox 11"/>
          <p:cNvSpPr/>
          <p:nvPr/>
        </p:nvSpPr>
        <p:spPr>
          <a:xfrm>
            <a:off x="8202240" y="1536120"/>
            <a:ext cx="29804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5C4830"/>
                </a:solidFill>
                <a:effectLst/>
                <a:uFillTx/>
                <a:latin typeface="Georgia"/>
              </a:rPr>
              <a:t>◐ Dalam Pengembangan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Box 12"/>
          <p:cNvSpPr/>
          <p:nvPr/>
        </p:nvSpPr>
        <p:spPr>
          <a:xfrm>
            <a:off x="8202240" y="1938600"/>
            <a:ext cx="2980440" cy="276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Halaman pemesanan</a:t>
            </a:r>
            <a:br>
              <a:rPr sz="1250"/>
            </a:br>
            <a:br>
              <a:rPr sz="1250"/>
            </a:br>
            <a:r>
              <a:rPr lang="en-US" sz="125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• Form pelanggan</a:t>
            </a:r>
            <a:br>
              <a:rPr sz="1250"/>
            </a:br>
            <a:r>
              <a:rPr lang="en-US" sz="125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• Pilihan produk</a:t>
            </a:r>
            <a:br>
              <a:rPr sz="1250"/>
            </a:br>
            <a:r>
              <a:rPr lang="en-US" sz="125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• Jumlah</a:t>
            </a:r>
            <a:br>
              <a:rPr sz="1250"/>
            </a:br>
            <a:r>
              <a:rPr lang="en-US" sz="125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• Catatan</a:t>
            </a:r>
            <a:br>
              <a:rPr sz="1250"/>
            </a:br>
            <a:r>
              <a:rPr lang="en-US" sz="125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• Pembayaran</a:t>
            </a:r>
            <a:br>
              <a:rPr sz="1250"/>
            </a:br>
            <a:br>
              <a:rPr sz="1250"/>
            </a:br>
            <a:r>
              <a:rPr lang="en-US" sz="125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Mengacu pada wireframe.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Box 13"/>
          <p:cNvSpPr/>
          <p:nvPr/>
        </p:nvSpPr>
        <p:spPr>
          <a:xfrm>
            <a:off x="914400" y="5394960"/>
            <a:ext cx="10240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Status ini menunjukkan progres proyek sesuai tahap pengerjaan saat presentasi.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Box 14"/>
          <p:cNvSpPr/>
          <p:nvPr/>
        </p:nvSpPr>
        <p:spPr>
          <a:xfrm>
            <a:off x="594360" y="6510600"/>
            <a:ext cx="86864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Pemrograman Interface • UMKM Ayam Grobok Bang Jarwo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Rectangle 1"/>
          <p:cNvSpPr/>
          <p:nvPr/>
        </p:nvSpPr>
        <p:spPr>
          <a:xfrm>
            <a:off x="0" y="0"/>
            <a:ext cx="12191400" cy="164160"/>
          </a:xfrm>
          <a:prstGeom prst="rect">
            <a:avLst/>
          </a:prstGeom>
          <a:solidFill>
            <a:srgbClr val="F1D55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5" name="TextBox 2"/>
          <p:cNvSpPr/>
          <p:nvPr/>
        </p:nvSpPr>
        <p:spPr>
          <a:xfrm>
            <a:off x="594360" y="384120"/>
            <a:ext cx="98751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23231E"/>
                </a:solidFill>
                <a:effectLst/>
                <a:uFillTx/>
                <a:latin typeface="Georgia"/>
              </a:rPr>
              <a:t>Pembagian Tugas Kelompok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Box 3"/>
          <p:cNvSpPr/>
          <p:nvPr/>
        </p:nvSpPr>
        <p:spPr>
          <a:xfrm>
            <a:off x="11109960" y="411480"/>
            <a:ext cx="456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C4830"/>
                </a:solidFill>
                <a:effectLst/>
                <a:uFillTx/>
                <a:latin typeface="Arial"/>
              </a:rPr>
              <a:t>15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Box 4"/>
          <p:cNvSpPr/>
          <p:nvPr/>
        </p:nvSpPr>
        <p:spPr>
          <a:xfrm>
            <a:off x="731520" y="105156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5C4830"/>
                </a:solidFill>
                <a:effectLst/>
                <a:uFillTx/>
                <a:latin typeface="Georgia"/>
              </a:rPr>
              <a:t>Isi nama anggota dan kontribusi sesuai pembagian kerja kelompok.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Rounded Rectangle 17"/>
          <p:cNvSpPr/>
          <p:nvPr/>
        </p:nvSpPr>
        <p:spPr>
          <a:xfrm>
            <a:off x="1005840" y="1581840"/>
            <a:ext cx="9966600" cy="4087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FAE59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3" name="TextBox 20"/>
          <p:cNvSpPr/>
          <p:nvPr/>
        </p:nvSpPr>
        <p:spPr>
          <a:xfrm>
            <a:off x="594360" y="6510600"/>
            <a:ext cx="86864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Pemrograman Interface • UMKM Ayam Grobok Bang Jarwo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TextBox 1"/>
          <p:cNvSpPr/>
          <p:nvPr/>
        </p:nvSpPr>
        <p:spPr>
          <a:xfrm>
            <a:off x="731520" y="731520"/>
            <a:ext cx="4114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23231E"/>
                </a:solidFill>
                <a:effectLst/>
                <a:uFillTx/>
                <a:latin typeface="Georgia"/>
              </a:rPr>
              <a:t>KESIMPULAN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Box 2"/>
          <p:cNvSpPr/>
          <p:nvPr/>
        </p:nvSpPr>
        <p:spPr>
          <a:xfrm>
            <a:off x="777240" y="1600200"/>
            <a:ext cx="6400440" cy="132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5C4830"/>
                </a:solidFill>
                <a:effectLst/>
                <a:uFillTx/>
                <a:latin typeface="Georgia"/>
              </a:rPr>
              <a:t>Website Ayam Grobok Bang Jarwo dirancang untuk menyajikan informasi UMKM, produk, lokasi, serta proses pemesanan dalam interface yang sederhana dan terstruktur.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Box 3"/>
          <p:cNvSpPr/>
          <p:nvPr/>
        </p:nvSpPr>
        <p:spPr>
          <a:xfrm>
            <a:off x="777240" y="3246120"/>
            <a:ext cx="640044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69695F"/>
                </a:solidFill>
                <a:effectLst/>
                <a:uFillTx/>
                <a:latin typeface="Arial"/>
              </a:rPr>
              <a:t>Perancangan dimulai dari wireframe dan style guide, kemudian diimplementasikan menggunakan HTML, CSS, dan teknologi pendukung lainnya.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Rounded Rectangle 4"/>
          <p:cNvSpPr/>
          <p:nvPr/>
        </p:nvSpPr>
        <p:spPr>
          <a:xfrm>
            <a:off x="7795260" y="1031970"/>
            <a:ext cx="3337200" cy="4388760"/>
          </a:xfrm>
          <a:prstGeom prst="roundRect">
            <a:avLst>
              <a:gd name="adj" fmla="val 16667"/>
            </a:avLst>
          </a:prstGeom>
          <a:solidFill>
            <a:srgbClr val="F1D55B"/>
          </a:solidFill>
          <a:ln>
            <a:solidFill>
              <a:srgbClr val="5C483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8" name="TextBox 5"/>
          <p:cNvSpPr/>
          <p:nvPr/>
        </p:nvSpPr>
        <p:spPr>
          <a:xfrm>
            <a:off x="7990342" y="2770520"/>
            <a:ext cx="2947035" cy="47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500" b="1" u="none" strike="noStrike" dirty="0">
                <a:solidFill>
                  <a:srgbClr val="23231E"/>
                </a:solidFill>
                <a:effectLst/>
                <a:uFillTx/>
                <a:latin typeface="Georgia"/>
              </a:rPr>
              <a:t>TERIMA KASIH</a:t>
            </a:r>
            <a:endParaRPr lang="en-US" sz="2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Box 7"/>
          <p:cNvSpPr/>
          <p:nvPr/>
        </p:nvSpPr>
        <p:spPr>
          <a:xfrm>
            <a:off x="8115299" y="3333750"/>
            <a:ext cx="26971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 dirty="0" err="1">
                <a:solidFill>
                  <a:srgbClr val="23231E"/>
                </a:solidFill>
                <a:effectLst/>
                <a:uFillTx/>
                <a:latin typeface="Arial"/>
              </a:rPr>
              <a:t>Ayam</a:t>
            </a:r>
            <a:r>
              <a:rPr lang="en-US" sz="1400" b="1" u="none" strike="noStrike" dirty="0">
                <a:solidFill>
                  <a:srgbClr val="23231E"/>
                </a:solidFill>
                <a:effectLst/>
                <a:uFillTx/>
                <a:latin typeface="Arial"/>
              </a:rPr>
              <a:t> </a:t>
            </a:r>
            <a:r>
              <a:rPr lang="en-US" sz="1400" b="1" u="none" strike="noStrike" dirty="0" err="1">
                <a:solidFill>
                  <a:srgbClr val="23231E"/>
                </a:solidFill>
                <a:effectLst/>
                <a:uFillTx/>
                <a:latin typeface="Arial"/>
              </a:rPr>
              <a:t>Grobok</a:t>
            </a:r>
            <a:r>
              <a:rPr lang="en-US" sz="1400" b="1" u="none" strike="noStrike" dirty="0">
                <a:solidFill>
                  <a:srgbClr val="23231E"/>
                </a:solidFill>
                <a:effectLst/>
                <a:uFillTx/>
                <a:latin typeface="Arial"/>
              </a:rPr>
              <a:t> Bang </a:t>
            </a:r>
            <a:r>
              <a:rPr lang="en-US" sz="1400" b="1" u="none" strike="noStrike" dirty="0" err="1">
                <a:solidFill>
                  <a:srgbClr val="23231E"/>
                </a:solidFill>
                <a:effectLst/>
                <a:uFillTx/>
                <a:latin typeface="Arial"/>
              </a:rPr>
              <a:t>Jarwo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Words>1086</Words>
  <Application>Microsoft Office PowerPoint</Application>
  <PresentationFormat>Widescreen</PresentationFormat>
  <Paragraphs>209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Georgia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RIZA ROSMERI</cp:lastModifiedBy>
  <cp:revision>3</cp:revision>
  <dcterms:modified xsi:type="dcterms:W3CDTF">2026-09-26T15:35:06Z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